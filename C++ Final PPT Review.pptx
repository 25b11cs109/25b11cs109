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8"/>
  </p:notesMasterIdLst>
  <p:handoutMasterIdLst>
    <p:handoutMasterId r:id="rId19"/>
  </p:handoutMasterIdLst>
  <p:sldIdLst>
    <p:sldId id="256" r:id="rId2"/>
    <p:sldId id="430" r:id="rId3"/>
    <p:sldId id="431" r:id="rId4"/>
    <p:sldId id="432" r:id="rId5"/>
    <p:sldId id="578" r:id="rId6"/>
    <p:sldId id="573" r:id="rId7"/>
    <p:sldId id="579" r:id="rId8"/>
    <p:sldId id="569" r:id="rId9"/>
    <p:sldId id="500" r:id="rId10"/>
    <p:sldId id="570" r:id="rId11"/>
    <p:sldId id="571" r:id="rId12"/>
    <p:sldId id="507" r:id="rId13"/>
    <p:sldId id="508" r:id="rId14"/>
    <p:sldId id="580" r:id="rId15"/>
    <p:sldId id="581" r:id="rId16"/>
    <p:sldId id="29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4" autoAdjust="0"/>
    <p:restoredTop sz="94662" autoAdjust="0"/>
  </p:normalViewPr>
  <p:slideViewPr>
    <p:cSldViewPr>
      <p:cViewPr varScale="1">
        <p:scale>
          <a:sx n="88" d="100"/>
          <a:sy n="88" d="100"/>
        </p:scale>
        <p:origin x="187" y="9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349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07-10-2026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07-10-2026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Data Science      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Professor, CSE Dept.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pPr/>
              <a:t>07-10-2026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1571612"/>
            <a:ext cx="10696612" cy="24288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endParaRPr kumimoji="0" lang="en-IN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itchFamily="34" charset="0"/>
              <a:ea typeface="+mj-ea"/>
              <a:cs typeface="+mj-cs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809588" y="4797152"/>
            <a:ext cx="10358510" cy="1417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w Cen MT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98DAA0-3879-D0B7-214C-20547C871D5E}"/>
              </a:ext>
            </a:extLst>
          </p:cNvPr>
          <p:cNvSpPr txBox="1"/>
          <p:nvPr/>
        </p:nvSpPr>
        <p:spPr>
          <a:xfrm>
            <a:off x="3503712" y="199128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rPr lang="en-US" sz="4000" dirty="0">
                <a:solidFill>
                  <a:srgbClr val="002060"/>
                </a:solidFill>
                <a:latin typeface="Berlin Sans FB Demi" panose="020E0802020502020306" pitchFamily="34" charset="0"/>
              </a:rPr>
              <a:t>S</a:t>
            </a:r>
            <a:r>
              <a:rPr lang="en-IN" sz="4000" dirty="0">
                <a:solidFill>
                  <a:srgbClr val="002060"/>
                </a:solidFill>
                <a:latin typeface="Berlin Sans FB Demi" panose="020E0802020502020306" pitchFamily="34" charset="0"/>
              </a:rPr>
              <a:t>TUDENT RESULT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E8840E-20E7-B7B7-CB9C-650C59B06FCA}"/>
              </a:ext>
            </a:extLst>
          </p:cNvPr>
          <p:cNvSpPr txBox="1"/>
          <p:nvPr/>
        </p:nvSpPr>
        <p:spPr>
          <a:xfrm>
            <a:off x="3359696" y="2696162"/>
            <a:ext cx="60960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BECDDC"/>
                </a:solidFill>
                <a:latin typeface="Aptos"/>
              </a:defRPr>
            </a:pPr>
            <a:r>
              <a:rPr lang="en-IN" sz="19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Using C++ • Object-Oriented Programming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2C3CF-D8C9-8D2F-B69F-D15795346F48}"/>
              </a:ext>
            </a:extLst>
          </p:cNvPr>
          <p:cNvSpPr txBox="1"/>
          <p:nvPr/>
        </p:nvSpPr>
        <p:spPr>
          <a:xfrm>
            <a:off x="3215680" y="310155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2000" strike="noStrike" spc="-1" dirty="0">
                <a:solidFill>
                  <a:schemeClr val="bg2">
                    <a:lumMod val="10000"/>
                  </a:schemeClr>
                </a:solidFill>
                <a:latin typeface="Calibri"/>
              </a:rPr>
              <a:t>CAPSTONE PROJECT – REVIEW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1BAC89-588F-CACD-E244-926345AD7696}"/>
              </a:ext>
            </a:extLst>
          </p:cNvPr>
          <p:cNvSpPr txBox="1"/>
          <p:nvPr/>
        </p:nvSpPr>
        <p:spPr>
          <a:xfrm>
            <a:off x="1199456" y="506451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1E1E"/>
                </a:solidFill>
                <a:latin typeface="Georgia"/>
              </a:defRPr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B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.Kusula(25B11CS081)</a:t>
            </a:r>
          </a:p>
          <a:p>
            <a:pPr algn="l">
              <a:defRPr sz="1800" b="0">
                <a:solidFill>
                  <a:srgbClr val="1E1E1E"/>
                </a:solidFill>
                <a:latin typeface="Georgia"/>
              </a:defRPr>
            </a:pPr>
            <a:r>
              <a:rPr lang="en-IN" sz="1800" dirty="0" err="1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A.Varshini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(25B11CS071</a:t>
            </a:r>
            <a:endParaRPr lang="en-IN" sz="1800" dirty="0">
              <a:solidFill>
                <a:schemeClr val="accent1">
                  <a:lumMod val="50000"/>
                </a:schemeClr>
              </a:solidFill>
              <a:latin typeface="Times New Roman"/>
            </a:endParaRPr>
          </a:p>
          <a:p>
            <a:pPr algn="l">
              <a:defRPr sz="1800" b="0">
                <a:solidFill>
                  <a:srgbClr val="1E1E1E"/>
                </a:solidFill>
                <a:latin typeface="Georgia"/>
              </a:defRPr>
            </a:pPr>
            <a:r>
              <a:rPr lang="en-IN" dirty="0" err="1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B.Meghana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(25B11CS109)</a:t>
            </a:r>
          </a:p>
          <a:p>
            <a:pPr algn="l">
              <a:defRPr sz="1800" b="0">
                <a:solidFill>
                  <a:srgbClr val="1E1E1E"/>
                </a:solidFill>
                <a:latin typeface="Georgia"/>
              </a:defRPr>
            </a:pPr>
            <a:r>
              <a:rPr lang="en-IN" sz="1800" dirty="0" err="1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B.Hemanth</a:t>
            </a:r>
            <a:r>
              <a:rPr lang="en-IN" sz="1800" dirty="0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(25B11CS123)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50C41C-3909-1947-B9BC-6726586617CB}"/>
              </a:ext>
            </a:extLst>
          </p:cNvPr>
          <p:cNvSpPr txBox="1"/>
          <p:nvPr/>
        </p:nvSpPr>
        <p:spPr>
          <a:xfrm>
            <a:off x="479376" y="1124744"/>
            <a:ext cx="9875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latin typeface="Berlin Sans FB Demi" panose="020E0802020502020306" pitchFamily="34" charset="0"/>
              </a:rPr>
              <a:t>Project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EBD0FA-9379-B811-0B55-7023D39431BD}"/>
              </a:ext>
            </a:extLst>
          </p:cNvPr>
          <p:cNvSpPr txBox="1"/>
          <p:nvPr/>
        </p:nvSpPr>
        <p:spPr>
          <a:xfrm>
            <a:off x="506808" y="1691672"/>
            <a:ext cx="10515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latin typeface="Aptos"/>
              </a:rPr>
              <a:t>A practical C++ solution for managing student academic records.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15BDCAF5-773E-0C68-C8FE-A24C5C487B0B}"/>
              </a:ext>
            </a:extLst>
          </p:cNvPr>
          <p:cNvSpPr/>
          <p:nvPr/>
        </p:nvSpPr>
        <p:spPr>
          <a:xfrm>
            <a:off x="525096" y="2194592"/>
            <a:ext cx="3383280" cy="141732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9A4587-2A91-40DB-8BDC-90F90659CE6A}"/>
              </a:ext>
            </a:extLst>
          </p:cNvPr>
          <p:cNvSpPr txBox="1"/>
          <p:nvPr/>
        </p:nvSpPr>
        <p:spPr>
          <a:xfrm>
            <a:off x="707975" y="2340896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STUDENT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4CE033-03BC-EE27-B74C-DC47AF29AAF9}"/>
              </a:ext>
            </a:extLst>
          </p:cNvPr>
          <p:cNvSpPr txBox="1"/>
          <p:nvPr/>
        </p:nvSpPr>
        <p:spPr>
          <a:xfrm>
            <a:off x="707975" y="2761520"/>
            <a:ext cx="3063240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Student ID • Name • Department • Semester</a:t>
            </a: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1B200462-1429-DC17-AEC5-D69089C25F6C}"/>
              </a:ext>
            </a:extLst>
          </p:cNvPr>
          <p:cNvSpPr/>
          <p:nvPr/>
        </p:nvSpPr>
        <p:spPr>
          <a:xfrm>
            <a:off x="4319856" y="2194592"/>
            <a:ext cx="3383280" cy="141732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C66799-823C-637B-A2D8-E6DAAAF082B5}"/>
              </a:ext>
            </a:extLst>
          </p:cNvPr>
          <p:cNvSpPr txBox="1"/>
          <p:nvPr/>
        </p:nvSpPr>
        <p:spPr>
          <a:xfrm>
            <a:off x="4502736" y="2340896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ACADEMIC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16DB65-C3CE-44B1-1FC7-477A6D715C85}"/>
              </a:ext>
            </a:extLst>
          </p:cNvPr>
          <p:cNvSpPr txBox="1"/>
          <p:nvPr/>
        </p:nvSpPr>
        <p:spPr>
          <a:xfrm>
            <a:off x="4502736" y="2761520"/>
            <a:ext cx="3063240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Five subject marks • Total • Percentage</a:t>
            </a:r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9F1233F6-C8AC-EAAC-D536-E7429CE8ACD1}"/>
              </a:ext>
            </a:extLst>
          </p:cNvPr>
          <p:cNvSpPr/>
          <p:nvPr/>
        </p:nvSpPr>
        <p:spPr>
          <a:xfrm>
            <a:off x="8114616" y="2194592"/>
            <a:ext cx="3383280" cy="141732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3750D5-B870-1E2C-466A-08FB15440436}"/>
              </a:ext>
            </a:extLst>
          </p:cNvPr>
          <p:cNvSpPr txBox="1"/>
          <p:nvPr/>
        </p:nvSpPr>
        <p:spPr>
          <a:xfrm>
            <a:off x="8297496" y="2340896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RESULT PROCESSING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E7F92D-3524-2CDD-3E5A-C9E7221F775C}"/>
              </a:ext>
            </a:extLst>
          </p:cNvPr>
          <p:cNvSpPr txBox="1"/>
          <p:nvPr/>
        </p:nvSpPr>
        <p:spPr>
          <a:xfrm>
            <a:off x="8297496" y="2761520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Grade • Pass / Fail</a:t>
            </a:r>
          </a:p>
        </p:txBody>
      </p:sp>
      <p:sp>
        <p:nvSpPr>
          <p:cNvPr id="35" name="Rounded Rectangle 17">
            <a:extLst>
              <a:ext uri="{FF2B5EF4-FFF2-40B4-BE49-F238E27FC236}">
                <a16:creationId xmlns:a16="http://schemas.microsoft.com/office/drawing/2014/main" id="{1E897320-301C-94D4-1C25-F61BC6122A12}"/>
              </a:ext>
            </a:extLst>
          </p:cNvPr>
          <p:cNvSpPr/>
          <p:nvPr/>
        </p:nvSpPr>
        <p:spPr>
          <a:xfrm>
            <a:off x="525096" y="4023392"/>
            <a:ext cx="3383280" cy="141732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49FE7A-0CE8-EBA2-4063-711E33771CDF}"/>
              </a:ext>
            </a:extLst>
          </p:cNvPr>
          <p:cNvSpPr txBox="1"/>
          <p:nvPr/>
        </p:nvSpPr>
        <p:spPr>
          <a:xfrm>
            <a:off x="707975" y="4169696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SEARCH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5BE096-6A1F-E595-B49F-A7E34DDF73AC}"/>
              </a:ext>
            </a:extLst>
          </p:cNvPr>
          <p:cNvSpPr txBox="1"/>
          <p:nvPr/>
        </p:nvSpPr>
        <p:spPr>
          <a:xfrm>
            <a:off x="707975" y="4590320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Search by Student ID or Name</a:t>
            </a:r>
          </a:p>
        </p:txBody>
      </p:sp>
      <p:sp>
        <p:nvSpPr>
          <p:cNvPr id="43" name="Rounded Rectangle 21">
            <a:extLst>
              <a:ext uri="{FF2B5EF4-FFF2-40B4-BE49-F238E27FC236}">
                <a16:creationId xmlns:a16="http://schemas.microsoft.com/office/drawing/2014/main" id="{1E56C88F-531C-AB37-5443-E682D9119B14}"/>
              </a:ext>
            </a:extLst>
          </p:cNvPr>
          <p:cNvSpPr/>
          <p:nvPr/>
        </p:nvSpPr>
        <p:spPr>
          <a:xfrm>
            <a:off x="4319856" y="4023392"/>
            <a:ext cx="3383280" cy="141732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27C784-E99F-7200-9DD1-4FDDD6FC9856}"/>
              </a:ext>
            </a:extLst>
          </p:cNvPr>
          <p:cNvSpPr txBox="1"/>
          <p:nvPr/>
        </p:nvSpPr>
        <p:spPr>
          <a:xfrm>
            <a:off x="4502736" y="4169696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SORTING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DB3ABC-C50F-BA9F-4339-5348DA8C52DA}"/>
              </a:ext>
            </a:extLst>
          </p:cNvPr>
          <p:cNvSpPr txBox="1"/>
          <p:nvPr/>
        </p:nvSpPr>
        <p:spPr>
          <a:xfrm>
            <a:off x="4502736" y="4590320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Sort records by ID or Name</a:t>
            </a:r>
          </a:p>
        </p:txBody>
      </p:sp>
      <p:sp>
        <p:nvSpPr>
          <p:cNvPr id="51" name="Rounded Rectangle 25">
            <a:extLst>
              <a:ext uri="{FF2B5EF4-FFF2-40B4-BE49-F238E27FC236}">
                <a16:creationId xmlns:a16="http://schemas.microsoft.com/office/drawing/2014/main" id="{5A4B32B5-24F4-70B2-A174-CC8497ADAAF1}"/>
              </a:ext>
            </a:extLst>
          </p:cNvPr>
          <p:cNvSpPr/>
          <p:nvPr/>
        </p:nvSpPr>
        <p:spPr>
          <a:xfrm>
            <a:off x="8114616" y="4023392"/>
            <a:ext cx="3383280" cy="141732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EFE83C-F3EC-75CD-8DC1-25EC7C6F773E}"/>
              </a:ext>
            </a:extLst>
          </p:cNvPr>
          <p:cNvSpPr txBox="1"/>
          <p:nvPr/>
        </p:nvSpPr>
        <p:spPr>
          <a:xfrm>
            <a:off x="8297496" y="4169696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PERSISTENCE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104866E-6E7B-7549-C898-73B49BE1DF03}"/>
              </a:ext>
            </a:extLst>
          </p:cNvPr>
          <p:cNvSpPr txBox="1"/>
          <p:nvPr/>
        </p:nvSpPr>
        <p:spPr>
          <a:xfrm>
            <a:off x="8297496" y="4590320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Save and load using students.txt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4839986-FE66-4340-AABD-379518A30130}"/>
              </a:ext>
            </a:extLst>
          </p:cNvPr>
          <p:cNvSpPr txBox="1"/>
          <p:nvPr/>
        </p:nvSpPr>
        <p:spPr>
          <a:xfrm>
            <a:off x="1896696" y="594363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latin typeface="Aptos"/>
              </a:rPr>
              <a:t>MENU-DRIVEN CONSOLE APPLICATION</a:t>
            </a:r>
          </a:p>
        </p:txBody>
      </p:sp>
    </p:spTree>
    <p:extLst>
      <p:ext uri="{BB962C8B-B14F-4D97-AF65-F5344CB8AC3E}">
        <p14:creationId xmlns:p14="http://schemas.microsoft.com/office/powerpoint/2010/main" val="2680478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C4B12F71-216B-4B4A-9933-2017B3D46F1E}"/>
              </a:ext>
            </a:extLst>
          </p:cNvPr>
          <p:cNvSpPr txBox="1">
            <a:spLocks/>
          </p:cNvSpPr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47337D1-3FE0-6205-94FB-2CF78356B78B}"/>
              </a:ext>
            </a:extLst>
          </p:cNvPr>
          <p:cNvGrpSpPr/>
          <p:nvPr/>
        </p:nvGrpSpPr>
        <p:grpSpPr>
          <a:xfrm>
            <a:off x="479376" y="1196752"/>
            <a:ext cx="10744200" cy="3478969"/>
            <a:chOff x="594360" y="347472"/>
            <a:chExt cx="10744200" cy="347896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7A1739A-6E68-3204-7B8E-AD0181A5CB03}"/>
                </a:ext>
              </a:extLst>
            </p:cNvPr>
            <p:cNvSpPr txBox="1"/>
            <p:nvPr/>
          </p:nvSpPr>
          <p:spPr>
            <a:xfrm>
              <a:off x="594360" y="347472"/>
              <a:ext cx="987552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800" b="1" dirty="0">
                  <a:latin typeface="Berlin Sans FB Demi" panose="020E0802020502020306" pitchFamily="34" charset="0"/>
                </a:rPr>
                <a:t>Problem Statement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DCA0BA8-332D-F215-947D-6C847AC4C0D7}"/>
                </a:ext>
              </a:extLst>
            </p:cNvPr>
            <p:cNvSpPr txBox="1"/>
            <p:nvPr/>
          </p:nvSpPr>
          <p:spPr>
            <a:xfrm>
              <a:off x="621792" y="914400"/>
              <a:ext cx="10515600" cy="2846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50" b="0" dirty="0">
                  <a:latin typeface="Aptos"/>
                </a:rPr>
                <a:t>Why is a dedicated student result system needed?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869632-128C-1366-0AA9-4643FACEFA2B}"/>
                </a:ext>
              </a:extLst>
            </p:cNvPr>
            <p:cNvSpPr txBox="1"/>
            <p:nvPr/>
          </p:nvSpPr>
          <p:spPr>
            <a:xfrm>
              <a:off x="822960" y="1417320"/>
              <a:ext cx="10515600" cy="24091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700" b="0" dirty="0">
                  <a:latin typeface="Aptos"/>
                </a:rPr>
                <a:t>• Managing student marks manually can be time-consuming.
• Manual calculation of total and percentage may lead to errors.
• Finding a particular student becomes difficult as records increase.
• Maintaining student information in separate records is inconvenient.
• Repeated result calculations require additional effort.
• Student records need organized and persistent storage.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3802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F50179-5AED-418A-7094-D2DE671C14DA}"/>
              </a:ext>
            </a:extLst>
          </p:cNvPr>
          <p:cNvSpPr txBox="1"/>
          <p:nvPr/>
        </p:nvSpPr>
        <p:spPr>
          <a:xfrm>
            <a:off x="558767" y="606626"/>
            <a:ext cx="9875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latin typeface="Berlin Sans FB Demi" panose="020E0802020502020306" pitchFamily="34" charset="0"/>
              </a:rPr>
              <a:t>Project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B6AEBD-7543-B43E-717B-BCCEED429BB3}"/>
              </a:ext>
            </a:extLst>
          </p:cNvPr>
          <p:cNvSpPr txBox="1"/>
          <p:nvPr/>
        </p:nvSpPr>
        <p:spPr>
          <a:xfrm>
            <a:off x="506808" y="1632204"/>
            <a:ext cx="10515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latin typeface="Aptos"/>
              </a:rPr>
              <a:t>What the system is designed to achieve.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E5DD0E80-B861-096A-AF2F-44018A261AB6}"/>
              </a:ext>
            </a:extLst>
          </p:cNvPr>
          <p:cNvSpPr/>
          <p:nvPr/>
        </p:nvSpPr>
        <p:spPr>
          <a:xfrm>
            <a:off x="525096" y="2135124"/>
            <a:ext cx="33832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67E0AF-C1FE-BB57-CBCF-F7DEA2D441FD}"/>
              </a:ext>
            </a:extLst>
          </p:cNvPr>
          <p:cNvSpPr txBox="1"/>
          <p:nvPr/>
        </p:nvSpPr>
        <p:spPr>
          <a:xfrm>
            <a:off x="707975" y="2281428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01  MANAGE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F04F60-23C0-08AC-FC5B-8CF4AC327FB0}"/>
              </a:ext>
            </a:extLst>
          </p:cNvPr>
          <p:cNvSpPr txBox="1"/>
          <p:nvPr/>
        </p:nvSpPr>
        <p:spPr>
          <a:xfrm>
            <a:off x="707975" y="2702052"/>
            <a:ext cx="3063240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Aptos"/>
              </a:rPr>
              <a:t>Store and manage student academic information.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188A114B-A962-36AA-A63D-316AC2E596D7}"/>
              </a:ext>
            </a:extLst>
          </p:cNvPr>
          <p:cNvSpPr/>
          <p:nvPr/>
        </p:nvSpPr>
        <p:spPr>
          <a:xfrm>
            <a:off x="4319856" y="2135124"/>
            <a:ext cx="33832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A1031B-CFA0-B322-7FAC-73FA818BF025}"/>
              </a:ext>
            </a:extLst>
          </p:cNvPr>
          <p:cNvSpPr txBox="1"/>
          <p:nvPr/>
        </p:nvSpPr>
        <p:spPr>
          <a:xfrm>
            <a:off x="4502736" y="2281428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02  RECORD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A52EE0-E4A5-F0F5-48F6-8BB246A56AB7}"/>
              </a:ext>
            </a:extLst>
          </p:cNvPr>
          <p:cNvSpPr txBox="1"/>
          <p:nvPr/>
        </p:nvSpPr>
        <p:spPr>
          <a:xfrm>
            <a:off x="4502736" y="2702052"/>
            <a:ext cx="3063240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Aptos"/>
              </a:rPr>
              <a:t>Maintain student details and subject-wise marks.</a:t>
            </a:r>
          </a:p>
        </p:txBody>
      </p:sp>
      <p:sp>
        <p:nvSpPr>
          <p:cNvPr id="23" name="Rounded Rectangle 13">
            <a:extLst>
              <a:ext uri="{FF2B5EF4-FFF2-40B4-BE49-F238E27FC236}">
                <a16:creationId xmlns:a16="http://schemas.microsoft.com/office/drawing/2014/main" id="{A3E1B2E9-D641-68AE-D906-8B39E15DD4F4}"/>
              </a:ext>
            </a:extLst>
          </p:cNvPr>
          <p:cNvSpPr/>
          <p:nvPr/>
        </p:nvSpPr>
        <p:spPr>
          <a:xfrm>
            <a:off x="8114616" y="2135124"/>
            <a:ext cx="33832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5D072E-251D-B9D5-B6B1-094CA1B26C9C}"/>
              </a:ext>
            </a:extLst>
          </p:cNvPr>
          <p:cNvSpPr txBox="1"/>
          <p:nvPr/>
        </p:nvSpPr>
        <p:spPr>
          <a:xfrm>
            <a:off x="8297496" y="2281428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03  CALCULATE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8A6628-1E28-2893-7530-1B30FAABC544}"/>
              </a:ext>
            </a:extLst>
          </p:cNvPr>
          <p:cNvSpPr txBox="1"/>
          <p:nvPr/>
        </p:nvSpPr>
        <p:spPr>
          <a:xfrm>
            <a:off x="8297496" y="2702052"/>
            <a:ext cx="3063240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Aptos"/>
              </a:rPr>
              <a:t>Automatically calculate total and percentage</a:t>
            </a:r>
            <a:r>
              <a:rPr sz="1150" b="0" dirty="0">
                <a:latin typeface="Aptos"/>
              </a:rPr>
              <a:t>.</a:t>
            </a:r>
          </a:p>
        </p:txBody>
      </p:sp>
      <p:sp>
        <p:nvSpPr>
          <p:cNvPr id="31" name="Rounded Rectangle 17">
            <a:extLst>
              <a:ext uri="{FF2B5EF4-FFF2-40B4-BE49-F238E27FC236}">
                <a16:creationId xmlns:a16="http://schemas.microsoft.com/office/drawing/2014/main" id="{1DAF46F2-F648-65DA-6940-DF5B69FBA217}"/>
              </a:ext>
            </a:extLst>
          </p:cNvPr>
          <p:cNvSpPr/>
          <p:nvPr/>
        </p:nvSpPr>
        <p:spPr>
          <a:xfrm>
            <a:off x="525096" y="4192524"/>
            <a:ext cx="33832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9BD53C-C66B-2C67-CCE7-4502A8205C45}"/>
              </a:ext>
            </a:extLst>
          </p:cNvPr>
          <p:cNvSpPr txBox="1"/>
          <p:nvPr/>
        </p:nvSpPr>
        <p:spPr>
          <a:xfrm>
            <a:off x="707975" y="4338828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04  EVALUATE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4BEC98-2B4B-ACB5-D2BA-A7D033528FB5}"/>
              </a:ext>
            </a:extLst>
          </p:cNvPr>
          <p:cNvSpPr txBox="1"/>
          <p:nvPr/>
        </p:nvSpPr>
        <p:spPr>
          <a:xfrm>
            <a:off x="707975" y="4759452"/>
            <a:ext cx="3063240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Aptos"/>
              </a:rPr>
              <a:t>Determine grade and Pass/Fail status.</a:t>
            </a: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82E59E7F-8A06-DEC7-0719-AA14A7C37F84}"/>
              </a:ext>
            </a:extLst>
          </p:cNvPr>
          <p:cNvSpPr/>
          <p:nvPr/>
        </p:nvSpPr>
        <p:spPr>
          <a:xfrm>
            <a:off x="4319856" y="4192524"/>
            <a:ext cx="33832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674A3E-4EA3-52C8-2435-06AB8871F907}"/>
              </a:ext>
            </a:extLst>
          </p:cNvPr>
          <p:cNvSpPr txBox="1"/>
          <p:nvPr/>
        </p:nvSpPr>
        <p:spPr>
          <a:xfrm>
            <a:off x="4502736" y="4338828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05  SEARCH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130CDB-88DF-F6EA-FB29-FF4D313CB69D}"/>
              </a:ext>
            </a:extLst>
          </p:cNvPr>
          <p:cNvSpPr txBox="1"/>
          <p:nvPr/>
        </p:nvSpPr>
        <p:spPr>
          <a:xfrm>
            <a:off x="4502736" y="4759452"/>
            <a:ext cx="3063240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Aptos"/>
              </a:rPr>
              <a:t>Find records using Student ID or Name</a:t>
            </a:r>
            <a:r>
              <a:rPr sz="1150" b="0" dirty="0">
                <a:latin typeface="Aptos"/>
              </a:rPr>
              <a:t>.</a:t>
            </a:r>
          </a:p>
        </p:txBody>
      </p:sp>
      <p:sp>
        <p:nvSpPr>
          <p:cNvPr id="47" name="Rounded Rectangle 25">
            <a:extLst>
              <a:ext uri="{FF2B5EF4-FFF2-40B4-BE49-F238E27FC236}">
                <a16:creationId xmlns:a16="http://schemas.microsoft.com/office/drawing/2014/main" id="{4D045446-6B78-4CCB-68E9-F9250FE73C92}"/>
              </a:ext>
            </a:extLst>
          </p:cNvPr>
          <p:cNvSpPr/>
          <p:nvPr/>
        </p:nvSpPr>
        <p:spPr>
          <a:xfrm>
            <a:off x="8114616" y="4192524"/>
            <a:ext cx="33832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D31DA0-C671-B633-64F4-5BA19636109F}"/>
              </a:ext>
            </a:extLst>
          </p:cNvPr>
          <p:cNvSpPr txBox="1"/>
          <p:nvPr/>
        </p:nvSpPr>
        <p:spPr>
          <a:xfrm>
            <a:off x="8297496" y="4338828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06  APPLY C++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CB4DEF-8475-725F-6C88-11013C0C5B45}"/>
              </a:ext>
            </a:extLst>
          </p:cNvPr>
          <p:cNvSpPr txBox="1"/>
          <p:nvPr/>
        </p:nvSpPr>
        <p:spPr>
          <a:xfrm>
            <a:off x="8297496" y="4759452"/>
            <a:ext cx="3063240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Aptos"/>
              </a:rPr>
              <a:t>Demonstrate OOP and C++ concepts</a:t>
            </a:r>
            <a:r>
              <a:rPr sz="1150" b="0" dirty="0">
                <a:latin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0033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646957"/>
              </p:ext>
            </p:extLst>
          </p:nvPr>
        </p:nvGraphicFramePr>
        <p:xfrm>
          <a:off x="3388728" y="3630208"/>
          <a:ext cx="2737216" cy="1463040"/>
        </p:xfrm>
        <a:graphic>
          <a:graphicData uri="http://schemas.openxmlformats.org/drawingml/2006/table">
            <a:tbl>
              <a:tblPr/>
              <a:tblGrid>
                <a:gridCol w="1296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7839">
                <a:tc>
                  <a:txBody>
                    <a:bodyPr/>
                    <a:lstStyle/>
                    <a:p>
                      <a:pPr algn="r"/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39">
                <a:tc>
                  <a:txBody>
                    <a:bodyPr/>
                    <a:lstStyle/>
                    <a:p>
                      <a:pPr algn="r"/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39">
                <a:tc>
                  <a:txBody>
                    <a:bodyPr/>
                    <a:lstStyle/>
                    <a:p>
                      <a:pPr algn="r"/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39">
                <a:tc>
                  <a:txBody>
                    <a:bodyPr/>
                    <a:lstStyle/>
                    <a:p>
                      <a:pPr algn="r"/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10F90F9-CAB9-F7F7-C579-A162A0B657E5}"/>
              </a:ext>
            </a:extLst>
          </p:cNvPr>
          <p:cNvSpPr txBox="1"/>
          <p:nvPr/>
        </p:nvSpPr>
        <p:spPr>
          <a:xfrm>
            <a:off x="578816" y="536724"/>
            <a:ext cx="9875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latin typeface="Berlin Sans FB Demi" panose="020E0802020502020306" pitchFamily="34" charset="0"/>
              </a:rPr>
              <a:t>Implemented Modules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31206C-0316-3575-BBDA-2BACC658E7F8}"/>
              </a:ext>
            </a:extLst>
          </p:cNvPr>
          <p:cNvSpPr txBox="1"/>
          <p:nvPr/>
        </p:nvSpPr>
        <p:spPr>
          <a:xfrm>
            <a:off x="578816" y="1475648"/>
            <a:ext cx="10515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dirty="0">
                <a:latin typeface="Aptos"/>
              </a:rPr>
              <a:t>Core functional modules implemented in the project.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3C265678-14E4-07AF-2815-34382CB1D580}"/>
              </a:ext>
            </a:extLst>
          </p:cNvPr>
          <p:cNvSpPr/>
          <p:nvPr/>
        </p:nvSpPr>
        <p:spPr>
          <a:xfrm>
            <a:off x="597104" y="1978568"/>
            <a:ext cx="33832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6DC090-862A-4527-367D-A2A077359258}"/>
              </a:ext>
            </a:extLst>
          </p:cNvPr>
          <p:cNvSpPr txBox="1"/>
          <p:nvPr/>
        </p:nvSpPr>
        <p:spPr>
          <a:xfrm>
            <a:off x="779983" y="2124872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STUDENT MODULE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436EA2-F036-76B9-1B16-4D160AB683C8}"/>
              </a:ext>
            </a:extLst>
          </p:cNvPr>
          <p:cNvSpPr txBox="1"/>
          <p:nvPr/>
        </p:nvSpPr>
        <p:spPr>
          <a:xfrm>
            <a:off x="779983" y="2545496"/>
            <a:ext cx="3063240" cy="62324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150" b="0">
                <a:latin typeface="Aptos"/>
              </a:rPr>
              <a:t>Add Student
Update Student Details
Display Information</a:t>
            </a:r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0DFCDCAA-FFF5-B6CE-F999-1F8269A0B165}"/>
              </a:ext>
            </a:extLst>
          </p:cNvPr>
          <p:cNvSpPr/>
          <p:nvPr/>
        </p:nvSpPr>
        <p:spPr>
          <a:xfrm>
            <a:off x="4391864" y="1978568"/>
            <a:ext cx="33832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9557FB-71D2-706C-8540-7678E09E7066}"/>
              </a:ext>
            </a:extLst>
          </p:cNvPr>
          <p:cNvSpPr txBox="1"/>
          <p:nvPr/>
        </p:nvSpPr>
        <p:spPr>
          <a:xfrm>
            <a:off x="4574744" y="2124872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MARKS MODULE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FD8757-5E80-8DBC-970A-74480341977F}"/>
              </a:ext>
            </a:extLst>
          </p:cNvPr>
          <p:cNvSpPr txBox="1"/>
          <p:nvPr/>
        </p:nvSpPr>
        <p:spPr>
          <a:xfrm>
            <a:off x="4574744" y="2545496"/>
            <a:ext cx="3063240" cy="62324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150" b="0">
                <a:latin typeface="Aptos"/>
              </a:rPr>
              <a:t>Enter Subject Marks
Validate 0–100
Update Marks</a:t>
            </a:r>
          </a:p>
        </p:txBody>
      </p:sp>
      <p:sp>
        <p:nvSpPr>
          <p:cNvPr id="25" name="Rounded Rectangle 13">
            <a:extLst>
              <a:ext uri="{FF2B5EF4-FFF2-40B4-BE49-F238E27FC236}">
                <a16:creationId xmlns:a16="http://schemas.microsoft.com/office/drawing/2014/main" id="{8692A1BB-8123-3300-FF23-ABD937586CFD}"/>
              </a:ext>
            </a:extLst>
          </p:cNvPr>
          <p:cNvSpPr/>
          <p:nvPr/>
        </p:nvSpPr>
        <p:spPr>
          <a:xfrm>
            <a:off x="8186624" y="1978568"/>
            <a:ext cx="33832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055DA3-DFC4-D9C5-ABD3-CC911263DD55}"/>
              </a:ext>
            </a:extLst>
          </p:cNvPr>
          <p:cNvSpPr txBox="1"/>
          <p:nvPr/>
        </p:nvSpPr>
        <p:spPr>
          <a:xfrm>
            <a:off x="8369504" y="2124872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RESULT MODULE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161117-4D99-0F7A-D9E9-B42CFD72538D}"/>
              </a:ext>
            </a:extLst>
          </p:cNvPr>
          <p:cNvSpPr txBox="1"/>
          <p:nvPr/>
        </p:nvSpPr>
        <p:spPr>
          <a:xfrm>
            <a:off x="8369504" y="2545496"/>
            <a:ext cx="3063240" cy="62324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150" b="0">
                <a:latin typeface="Aptos"/>
              </a:rPr>
              <a:t>Calculate Total
Percentage
Grade • Pass/Fail</a:t>
            </a:r>
          </a:p>
        </p:txBody>
      </p:sp>
      <p:sp>
        <p:nvSpPr>
          <p:cNvPr id="33" name="Rounded Rectangle 17">
            <a:extLst>
              <a:ext uri="{FF2B5EF4-FFF2-40B4-BE49-F238E27FC236}">
                <a16:creationId xmlns:a16="http://schemas.microsoft.com/office/drawing/2014/main" id="{0CDD2F8C-8AD0-C87D-7BC2-058DC40300A0}"/>
              </a:ext>
            </a:extLst>
          </p:cNvPr>
          <p:cNvSpPr/>
          <p:nvPr/>
        </p:nvSpPr>
        <p:spPr>
          <a:xfrm>
            <a:off x="597104" y="4035968"/>
            <a:ext cx="33832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68F6BE-C121-E6F2-249F-A2109FD51CB8}"/>
              </a:ext>
            </a:extLst>
          </p:cNvPr>
          <p:cNvSpPr txBox="1"/>
          <p:nvPr/>
        </p:nvSpPr>
        <p:spPr>
          <a:xfrm>
            <a:off x="779983" y="4182272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SEARCH MODULE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F7DA43-F52F-AE3E-F127-8EEBAB66DFA6}"/>
              </a:ext>
            </a:extLst>
          </p:cNvPr>
          <p:cNvSpPr txBox="1"/>
          <p:nvPr/>
        </p:nvSpPr>
        <p:spPr>
          <a:xfrm>
            <a:off x="779983" y="4602896"/>
            <a:ext cx="3063240" cy="44627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150" b="0">
                <a:latin typeface="Aptos"/>
              </a:rPr>
              <a:t>Search by ID
Search by Name</a:t>
            </a:r>
          </a:p>
        </p:txBody>
      </p:sp>
      <p:sp>
        <p:nvSpPr>
          <p:cNvPr id="41" name="Rounded Rectangle 21">
            <a:extLst>
              <a:ext uri="{FF2B5EF4-FFF2-40B4-BE49-F238E27FC236}">
                <a16:creationId xmlns:a16="http://schemas.microsoft.com/office/drawing/2014/main" id="{79D7F5E2-5E31-EC1F-6526-4542E205C4FA}"/>
              </a:ext>
            </a:extLst>
          </p:cNvPr>
          <p:cNvSpPr/>
          <p:nvPr/>
        </p:nvSpPr>
        <p:spPr>
          <a:xfrm>
            <a:off x="4391864" y="4035968"/>
            <a:ext cx="33832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7FFB37-BE2A-91F4-6AD0-E28F168E440D}"/>
              </a:ext>
            </a:extLst>
          </p:cNvPr>
          <p:cNvSpPr txBox="1"/>
          <p:nvPr/>
        </p:nvSpPr>
        <p:spPr>
          <a:xfrm>
            <a:off x="4574744" y="4182272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SORT MODULE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4EDD92-9757-33EF-A1D6-0675903F0507}"/>
              </a:ext>
            </a:extLst>
          </p:cNvPr>
          <p:cNvSpPr txBox="1"/>
          <p:nvPr/>
        </p:nvSpPr>
        <p:spPr>
          <a:xfrm>
            <a:off x="4574744" y="4602896"/>
            <a:ext cx="3063240" cy="44627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150" b="0">
                <a:latin typeface="Aptos"/>
              </a:rPr>
              <a:t>Sort by Student ID
Sort by Student Name</a:t>
            </a:r>
          </a:p>
        </p:txBody>
      </p:sp>
      <p:sp>
        <p:nvSpPr>
          <p:cNvPr id="49" name="Rounded Rectangle 25">
            <a:extLst>
              <a:ext uri="{FF2B5EF4-FFF2-40B4-BE49-F238E27FC236}">
                <a16:creationId xmlns:a16="http://schemas.microsoft.com/office/drawing/2014/main" id="{3286AC99-F2A6-95FF-A5BF-032DCD19DA01}"/>
              </a:ext>
            </a:extLst>
          </p:cNvPr>
          <p:cNvSpPr/>
          <p:nvPr/>
        </p:nvSpPr>
        <p:spPr>
          <a:xfrm>
            <a:off x="8186624" y="4035968"/>
            <a:ext cx="33832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3027CA-8633-8D90-ECE2-285DB7A08B56}"/>
              </a:ext>
            </a:extLst>
          </p:cNvPr>
          <p:cNvSpPr txBox="1"/>
          <p:nvPr/>
        </p:nvSpPr>
        <p:spPr>
          <a:xfrm>
            <a:off x="8369504" y="4182272"/>
            <a:ext cx="30632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FILE MODULE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C70290-E54C-0086-5A6F-E06DE840E864}"/>
              </a:ext>
            </a:extLst>
          </p:cNvPr>
          <p:cNvSpPr txBox="1"/>
          <p:nvPr/>
        </p:nvSpPr>
        <p:spPr>
          <a:xfrm>
            <a:off x="8369504" y="4602896"/>
            <a:ext cx="3063240" cy="62324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150" b="0">
                <a:latin typeface="Aptos"/>
              </a:rPr>
              <a:t>Save Records
Load Records
students.txt</a:t>
            </a:r>
          </a:p>
        </p:txBody>
      </p:sp>
    </p:spTree>
    <p:extLst>
      <p:ext uri="{BB962C8B-B14F-4D97-AF65-F5344CB8AC3E}">
        <p14:creationId xmlns:p14="http://schemas.microsoft.com/office/powerpoint/2010/main" val="1266168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88">
            <a:extLst>
              <a:ext uri="{FF2B5EF4-FFF2-40B4-BE49-F238E27FC236}">
                <a16:creationId xmlns:a16="http://schemas.microsoft.com/office/drawing/2014/main" id="{DAB0F24C-FC9B-F617-4B7C-5925DD3DBED0}"/>
              </a:ext>
            </a:extLst>
          </p:cNvPr>
          <p:cNvSpPr txBox="1"/>
          <p:nvPr/>
        </p:nvSpPr>
        <p:spPr>
          <a:xfrm>
            <a:off x="615329" y="870935"/>
            <a:ext cx="9875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latin typeface="Berlin Sans FB Demi" panose="020E0802020502020306" pitchFamily="34" charset="0"/>
              </a:rPr>
              <a:t>System Workflow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22947FD-461A-CDD4-8355-4F99B075976C}"/>
              </a:ext>
            </a:extLst>
          </p:cNvPr>
          <p:cNvSpPr txBox="1"/>
          <p:nvPr/>
        </p:nvSpPr>
        <p:spPr>
          <a:xfrm>
            <a:off x="615329" y="1569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Step-by-step execution flow of the application.</a:t>
            </a:r>
          </a:p>
        </p:txBody>
      </p:sp>
      <p:sp>
        <p:nvSpPr>
          <p:cNvPr id="93" name="Rounded Rectangle 5">
            <a:extLst>
              <a:ext uri="{FF2B5EF4-FFF2-40B4-BE49-F238E27FC236}">
                <a16:creationId xmlns:a16="http://schemas.microsoft.com/office/drawing/2014/main" id="{084C5C2E-EAE5-3990-4496-F499AA013E98}"/>
              </a:ext>
            </a:extLst>
          </p:cNvPr>
          <p:cNvSpPr/>
          <p:nvPr/>
        </p:nvSpPr>
        <p:spPr>
          <a:xfrm>
            <a:off x="496457" y="2072248"/>
            <a:ext cx="20116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7583834-8F25-F84C-1142-900A8CC08C28}"/>
              </a:ext>
            </a:extLst>
          </p:cNvPr>
          <p:cNvSpPr txBox="1"/>
          <p:nvPr/>
        </p:nvSpPr>
        <p:spPr>
          <a:xfrm>
            <a:off x="679337" y="2218552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1  LOAD RECORDS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6CE6591-5379-8E08-BD59-034E709CAFEA}"/>
              </a:ext>
            </a:extLst>
          </p:cNvPr>
          <p:cNvSpPr txBox="1"/>
          <p:nvPr/>
        </p:nvSpPr>
        <p:spPr>
          <a:xfrm>
            <a:off x="679337" y="2639176"/>
            <a:ext cx="1691640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Read existing records</a:t>
            </a:r>
          </a:p>
        </p:txBody>
      </p:sp>
      <p:sp>
        <p:nvSpPr>
          <p:cNvPr id="99" name="Rounded Rectangle 9">
            <a:extLst>
              <a:ext uri="{FF2B5EF4-FFF2-40B4-BE49-F238E27FC236}">
                <a16:creationId xmlns:a16="http://schemas.microsoft.com/office/drawing/2014/main" id="{D9C028A0-FD99-48F8-B970-8AE5B89ACCF9}"/>
              </a:ext>
            </a:extLst>
          </p:cNvPr>
          <p:cNvSpPr/>
          <p:nvPr/>
        </p:nvSpPr>
        <p:spPr>
          <a:xfrm>
            <a:off x="2828176" y="2072248"/>
            <a:ext cx="20116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E6F477E-CA8A-4395-91B2-6E40138E8B0D}"/>
              </a:ext>
            </a:extLst>
          </p:cNvPr>
          <p:cNvSpPr txBox="1"/>
          <p:nvPr/>
        </p:nvSpPr>
        <p:spPr>
          <a:xfrm>
            <a:off x="3011057" y="2218552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2  DISPLAY MENU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8B3E730-D2DD-C60D-F3FF-06086F5F2555}"/>
              </a:ext>
            </a:extLst>
          </p:cNvPr>
          <p:cNvSpPr txBox="1"/>
          <p:nvPr/>
        </p:nvSpPr>
        <p:spPr>
          <a:xfrm>
            <a:off x="3011057" y="2639176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Show operations</a:t>
            </a:r>
          </a:p>
        </p:txBody>
      </p:sp>
      <p:sp>
        <p:nvSpPr>
          <p:cNvPr id="105" name="Rounded Rectangle 13">
            <a:extLst>
              <a:ext uri="{FF2B5EF4-FFF2-40B4-BE49-F238E27FC236}">
                <a16:creationId xmlns:a16="http://schemas.microsoft.com/office/drawing/2014/main" id="{9D22AAC5-5941-8BB1-4F56-0246E8E5993D}"/>
              </a:ext>
            </a:extLst>
          </p:cNvPr>
          <p:cNvSpPr/>
          <p:nvPr/>
        </p:nvSpPr>
        <p:spPr>
          <a:xfrm>
            <a:off x="5159896" y="2072248"/>
            <a:ext cx="20116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1F4529F-F0C3-C2F5-0D8A-19B8E6B5B040}"/>
              </a:ext>
            </a:extLst>
          </p:cNvPr>
          <p:cNvSpPr txBox="1"/>
          <p:nvPr/>
        </p:nvSpPr>
        <p:spPr>
          <a:xfrm>
            <a:off x="5342777" y="2218552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3  SELECT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02066CD-C78B-FEBB-7B01-EB038F2EFB12}"/>
              </a:ext>
            </a:extLst>
          </p:cNvPr>
          <p:cNvSpPr txBox="1"/>
          <p:nvPr/>
        </p:nvSpPr>
        <p:spPr>
          <a:xfrm>
            <a:off x="5342777" y="2639176"/>
            <a:ext cx="1691640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User chooses option</a:t>
            </a:r>
          </a:p>
        </p:txBody>
      </p:sp>
      <p:sp>
        <p:nvSpPr>
          <p:cNvPr id="111" name="Rounded Rectangle 17">
            <a:extLst>
              <a:ext uri="{FF2B5EF4-FFF2-40B4-BE49-F238E27FC236}">
                <a16:creationId xmlns:a16="http://schemas.microsoft.com/office/drawing/2014/main" id="{6B4C4DBB-F5B6-5957-2D61-08A109BDA0D7}"/>
              </a:ext>
            </a:extLst>
          </p:cNvPr>
          <p:cNvSpPr/>
          <p:nvPr/>
        </p:nvSpPr>
        <p:spPr>
          <a:xfrm>
            <a:off x="7491616" y="2072248"/>
            <a:ext cx="20116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9F87539-A947-8536-BA3B-5C2AD996C745}"/>
              </a:ext>
            </a:extLst>
          </p:cNvPr>
          <p:cNvSpPr txBox="1"/>
          <p:nvPr/>
        </p:nvSpPr>
        <p:spPr>
          <a:xfrm>
            <a:off x="7674496" y="2218552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4  VALIDATE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0011B94-9A0F-3145-D68C-A9DA59B04B6A}"/>
              </a:ext>
            </a:extLst>
          </p:cNvPr>
          <p:cNvSpPr txBox="1"/>
          <p:nvPr/>
        </p:nvSpPr>
        <p:spPr>
          <a:xfrm>
            <a:off x="7674496" y="2639176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Check input</a:t>
            </a:r>
          </a:p>
        </p:txBody>
      </p:sp>
      <p:sp>
        <p:nvSpPr>
          <p:cNvPr id="117" name="Rounded Rectangle 21">
            <a:extLst>
              <a:ext uri="{FF2B5EF4-FFF2-40B4-BE49-F238E27FC236}">
                <a16:creationId xmlns:a16="http://schemas.microsoft.com/office/drawing/2014/main" id="{9FF38BBC-C9BC-2172-E6D5-4A2EA55AD6CE}"/>
              </a:ext>
            </a:extLst>
          </p:cNvPr>
          <p:cNvSpPr/>
          <p:nvPr/>
        </p:nvSpPr>
        <p:spPr>
          <a:xfrm>
            <a:off x="9823337" y="2072248"/>
            <a:ext cx="20116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3C2CAA2-AF03-0B72-2F24-ECBB9D8C14DA}"/>
              </a:ext>
            </a:extLst>
          </p:cNvPr>
          <p:cNvSpPr txBox="1"/>
          <p:nvPr/>
        </p:nvSpPr>
        <p:spPr>
          <a:xfrm>
            <a:off x="10006217" y="2218552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5  PROCESS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F137003-4CF0-0756-6DAD-1C18340EECD6}"/>
              </a:ext>
            </a:extLst>
          </p:cNvPr>
          <p:cNvSpPr txBox="1"/>
          <p:nvPr/>
        </p:nvSpPr>
        <p:spPr>
          <a:xfrm>
            <a:off x="10006217" y="2639176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Calculate result</a:t>
            </a:r>
          </a:p>
        </p:txBody>
      </p:sp>
      <p:sp>
        <p:nvSpPr>
          <p:cNvPr id="123" name="Rounded Rectangle 25">
            <a:extLst>
              <a:ext uri="{FF2B5EF4-FFF2-40B4-BE49-F238E27FC236}">
                <a16:creationId xmlns:a16="http://schemas.microsoft.com/office/drawing/2014/main" id="{A48A8F8A-6CBC-A62F-0A53-03B48ECF290E}"/>
              </a:ext>
            </a:extLst>
          </p:cNvPr>
          <p:cNvSpPr/>
          <p:nvPr/>
        </p:nvSpPr>
        <p:spPr>
          <a:xfrm>
            <a:off x="496457" y="4221088"/>
            <a:ext cx="20116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40E284D-5D8C-B393-D8C4-3201337225E5}"/>
              </a:ext>
            </a:extLst>
          </p:cNvPr>
          <p:cNvSpPr txBox="1"/>
          <p:nvPr/>
        </p:nvSpPr>
        <p:spPr>
          <a:xfrm>
            <a:off x="679337" y="4367392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6  DISPLAY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CD88139-AD3F-38D2-1829-2CF05A8C5EDC}"/>
              </a:ext>
            </a:extLst>
          </p:cNvPr>
          <p:cNvSpPr txBox="1"/>
          <p:nvPr/>
        </p:nvSpPr>
        <p:spPr>
          <a:xfrm>
            <a:off x="679337" y="4788016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Show output</a:t>
            </a:r>
          </a:p>
        </p:txBody>
      </p:sp>
      <p:sp>
        <p:nvSpPr>
          <p:cNvPr id="129" name="Rounded Rectangle 29">
            <a:extLst>
              <a:ext uri="{FF2B5EF4-FFF2-40B4-BE49-F238E27FC236}">
                <a16:creationId xmlns:a16="http://schemas.microsoft.com/office/drawing/2014/main" id="{EB702420-1026-5421-4362-A0CB95DD16DE}"/>
              </a:ext>
            </a:extLst>
          </p:cNvPr>
          <p:cNvSpPr/>
          <p:nvPr/>
        </p:nvSpPr>
        <p:spPr>
          <a:xfrm>
            <a:off x="2828176" y="4221088"/>
            <a:ext cx="20116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2E9BA0F-615D-1299-E628-32261DE3138A}"/>
              </a:ext>
            </a:extLst>
          </p:cNvPr>
          <p:cNvSpPr txBox="1"/>
          <p:nvPr/>
        </p:nvSpPr>
        <p:spPr>
          <a:xfrm>
            <a:off x="3011057" y="4367392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7  SEARCH / SORT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A518C39-8A19-7807-52A3-418B872B2644}"/>
              </a:ext>
            </a:extLst>
          </p:cNvPr>
          <p:cNvSpPr txBox="1"/>
          <p:nvPr/>
        </p:nvSpPr>
        <p:spPr>
          <a:xfrm>
            <a:off x="3011057" y="4788016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Manage records</a:t>
            </a:r>
          </a:p>
        </p:txBody>
      </p:sp>
      <p:sp>
        <p:nvSpPr>
          <p:cNvPr id="135" name="Rounded Rectangle 33">
            <a:extLst>
              <a:ext uri="{FF2B5EF4-FFF2-40B4-BE49-F238E27FC236}">
                <a16:creationId xmlns:a16="http://schemas.microsoft.com/office/drawing/2014/main" id="{6C208217-7D92-5582-48F7-526F8C4F741C}"/>
              </a:ext>
            </a:extLst>
          </p:cNvPr>
          <p:cNvSpPr/>
          <p:nvPr/>
        </p:nvSpPr>
        <p:spPr>
          <a:xfrm>
            <a:off x="5159896" y="4221088"/>
            <a:ext cx="20116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02D03D9-D000-306F-DB77-009EFAE24B15}"/>
              </a:ext>
            </a:extLst>
          </p:cNvPr>
          <p:cNvSpPr txBox="1"/>
          <p:nvPr/>
        </p:nvSpPr>
        <p:spPr>
          <a:xfrm>
            <a:off x="5342777" y="4367392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8  SAVE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5047CBD-0333-E6EC-F70A-7FB87B097232}"/>
              </a:ext>
            </a:extLst>
          </p:cNvPr>
          <p:cNvSpPr txBox="1"/>
          <p:nvPr/>
        </p:nvSpPr>
        <p:spPr>
          <a:xfrm>
            <a:off x="5342777" y="4788016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Store changes</a:t>
            </a:r>
          </a:p>
        </p:txBody>
      </p:sp>
      <p:sp>
        <p:nvSpPr>
          <p:cNvPr id="141" name="Rounded Rectangle 37">
            <a:extLst>
              <a:ext uri="{FF2B5EF4-FFF2-40B4-BE49-F238E27FC236}">
                <a16:creationId xmlns:a16="http://schemas.microsoft.com/office/drawing/2014/main" id="{33FDB746-2453-6A19-0966-A4A532E76A01}"/>
              </a:ext>
            </a:extLst>
          </p:cNvPr>
          <p:cNvSpPr/>
          <p:nvPr/>
        </p:nvSpPr>
        <p:spPr>
          <a:xfrm>
            <a:off x="7491616" y="4221088"/>
            <a:ext cx="20116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4F816EC-092C-A74F-9DF8-E5C5606DD61C}"/>
              </a:ext>
            </a:extLst>
          </p:cNvPr>
          <p:cNvSpPr txBox="1"/>
          <p:nvPr/>
        </p:nvSpPr>
        <p:spPr>
          <a:xfrm>
            <a:off x="7674496" y="4367392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9  RETURN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FAF8879-9A78-F774-D8EE-2DC5CB87B680}"/>
              </a:ext>
            </a:extLst>
          </p:cNvPr>
          <p:cNvSpPr txBox="1"/>
          <p:nvPr/>
        </p:nvSpPr>
        <p:spPr>
          <a:xfrm>
            <a:off x="7674496" y="4788016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Continue</a:t>
            </a:r>
          </a:p>
        </p:txBody>
      </p:sp>
      <p:sp>
        <p:nvSpPr>
          <p:cNvPr id="147" name="Rounded Rectangle 41">
            <a:extLst>
              <a:ext uri="{FF2B5EF4-FFF2-40B4-BE49-F238E27FC236}">
                <a16:creationId xmlns:a16="http://schemas.microsoft.com/office/drawing/2014/main" id="{29EF556A-4E50-DEFC-6AFB-44AC960714C8}"/>
              </a:ext>
            </a:extLst>
          </p:cNvPr>
          <p:cNvSpPr/>
          <p:nvPr/>
        </p:nvSpPr>
        <p:spPr>
          <a:xfrm>
            <a:off x="9823337" y="4221088"/>
            <a:ext cx="20116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F57FF19-A87D-291C-3967-9AA4804AFCE9}"/>
              </a:ext>
            </a:extLst>
          </p:cNvPr>
          <p:cNvSpPr txBox="1"/>
          <p:nvPr/>
        </p:nvSpPr>
        <p:spPr>
          <a:xfrm>
            <a:off x="10006217" y="4367392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10  EXIT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ADAFB71-8DF7-6DED-C0E5-81D1377904BE}"/>
              </a:ext>
            </a:extLst>
          </p:cNvPr>
          <p:cNvSpPr txBox="1"/>
          <p:nvPr/>
        </p:nvSpPr>
        <p:spPr>
          <a:xfrm>
            <a:off x="10006217" y="4788016"/>
            <a:ext cx="169164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Save and close</a:t>
            </a:r>
          </a:p>
        </p:txBody>
      </p:sp>
    </p:spTree>
    <p:extLst>
      <p:ext uri="{BB962C8B-B14F-4D97-AF65-F5344CB8AC3E}">
        <p14:creationId xmlns:p14="http://schemas.microsoft.com/office/powerpoint/2010/main" val="4210108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F124A4-3813-FE82-618A-F2BF06C49D07}"/>
              </a:ext>
            </a:extLst>
          </p:cNvPr>
          <p:cNvSpPr txBox="1"/>
          <p:nvPr/>
        </p:nvSpPr>
        <p:spPr>
          <a:xfrm>
            <a:off x="819984" y="918992"/>
            <a:ext cx="9875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latin typeface="Aptos"/>
              </a:rPr>
              <a:t>Object-Oriented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E56110-EBC1-DE6F-FF79-48F594519051}"/>
              </a:ext>
            </a:extLst>
          </p:cNvPr>
          <p:cNvSpPr txBox="1"/>
          <p:nvPr/>
        </p:nvSpPr>
        <p:spPr>
          <a:xfrm>
            <a:off x="847416" y="1485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The project uses one user-defined class: Student.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106E3D3A-992E-BDB3-4FDA-E3D87EFC2EE9}"/>
              </a:ext>
            </a:extLst>
          </p:cNvPr>
          <p:cNvSpPr/>
          <p:nvPr/>
        </p:nvSpPr>
        <p:spPr>
          <a:xfrm>
            <a:off x="911424" y="1988840"/>
            <a:ext cx="5257800" cy="438912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3FA5B-CA49-1353-4720-11019EE68C20}"/>
              </a:ext>
            </a:extLst>
          </p:cNvPr>
          <p:cNvSpPr txBox="1"/>
          <p:nvPr/>
        </p:nvSpPr>
        <p:spPr>
          <a:xfrm>
            <a:off x="1094304" y="2135144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CLASS 1 — Student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90C29E-7899-FD86-065F-5A45C707D31C}"/>
              </a:ext>
            </a:extLst>
          </p:cNvPr>
          <p:cNvSpPr txBox="1"/>
          <p:nvPr/>
        </p:nvSpPr>
        <p:spPr>
          <a:xfrm>
            <a:off x="1094304" y="2555768"/>
            <a:ext cx="493776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latin typeface="Aptos"/>
              </a:rPr>
              <a:t>Represents a complete student record.
DATA MEMBERS
• studentID
• name / department / semester
• marks[5]
• total / percentage
• grade / result
BEHAVIOR
• Add • Enter marks • Calculate
• Display • Update • Save / Load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BD547BD7-B1F6-A12E-E5D8-F2F30153184C}"/>
              </a:ext>
            </a:extLst>
          </p:cNvPr>
          <p:cNvSpPr/>
          <p:nvPr/>
        </p:nvSpPr>
        <p:spPr>
          <a:xfrm>
            <a:off x="6443544" y="1988840"/>
            <a:ext cx="5257800" cy="18288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71771B-917D-0FF5-733C-0E311092E68E}"/>
              </a:ext>
            </a:extLst>
          </p:cNvPr>
          <p:cNvSpPr txBox="1"/>
          <p:nvPr/>
        </p:nvSpPr>
        <p:spPr>
          <a:xfrm>
            <a:off x="6626424" y="2135144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OBJECT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D70BDB-2119-9A98-4E17-865E2957F1C6}"/>
              </a:ext>
            </a:extLst>
          </p:cNvPr>
          <p:cNvSpPr txBox="1"/>
          <p:nvPr/>
        </p:nvSpPr>
        <p:spPr>
          <a:xfrm>
            <a:off x="6626424" y="2555768"/>
            <a:ext cx="49377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latin typeface="Aptos"/>
              </a:rPr>
              <a:t>Student student;</a:t>
            </a:r>
          </a:p>
        </p:txBody>
      </p:sp>
      <p:sp>
        <p:nvSpPr>
          <p:cNvPr id="21" name="Rounded Rectangle 13">
            <a:extLst>
              <a:ext uri="{FF2B5EF4-FFF2-40B4-BE49-F238E27FC236}">
                <a16:creationId xmlns:a16="http://schemas.microsoft.com/office/drawing/2014/main" id="{6B7E1907-7BD4-6A00-0572-71CCA01F0D85}"/>
              </a:ext>
            </a:extLst>
          </p:cNvPr>
          <p:cNvSpPr/>
          <p:nvPr/>
        </p:nvSpPr>
        <p:spPr>
          <a:xfrm>
            <a:off x="6443544" y="4046240"/>
            <a:ext cx="5257800" cy="233172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A6C50B-4E57-8E44-90C5-98BB87715C5A}"/>
              </a:ext>
            </a:extLst>
          </p:cNvPr>
          <p:cNvSpPr txBox="1"/>
          <p:nvPr/>
        </p:nvSpPr>
        <p:spPr>
          <a:xfrm>
            <a:off x="6626424" y="4192544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ENCAPSULATION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3AF6F9-8533-2887-3D82-90A814FCBC8D}"/>
              </a:ext>
            </a:extLst>
          </p:cNvPr>
          <p:cNvSpPr txBox="1"/>
          <p:nvPr/>
        </p:nvSpPr>
        <p:spPr>
          <a:xfrm>
            <a:off x="6626424" y="4613168"/>
            <a:ext cx="493776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latin typeface="Aptos"/>
              </a:rPr>
              <a:t>Student data and operations are grouped inside the Student class using private data members and public member functions.</a:t>
            </a:r>
          </a:p>
        </p:txBody>
      </p:sp>
    </p:spTree>
    <p:extLst>
      <p:ext uri="{BB962C8B-B14F-4D97-AF65-F5344CB8AC3E}">
        <p14:creationId xmlns:p14="http://schemas.microsoft.com/office/powerpoint/2010/main" val="3983484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D1DC9F-33F4-4E87-80AA-118EEE7827BF}"/>
              </a:ext>
            </a:extLst>
          </p:cNvPr>
          <p:cNvSpPr txBox="1"/>
          <p:nvPr/>
        </p:nvSpPr>
        <p:spPr>
          <a:xfrm>
            <a:off x="743352" y="976113"/>
            <a:ext cx="9875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latin typeface="Aptos"/>
              </a:rPr>
              <a:t>C++ Concepts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85725-40A6-E0EE-8FDE-8276FA0E6225}"/>
              </a:ext>
            </a:extLst>
          </p:cNvPr>
          <p:cNvSpPr txBox="1"/>
          <p:nvPr/>
        </p:nvSpPr>
        <p:spPr>
          <a:xfrm>
            <a:off x="770784" y="1543041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Programming concepts demonstrated by the implementation.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79651B80-C46C-FF46-5D9E-893B9A22ACA2}"/>
              </a:ext>
            </a:extLst>
          </p:cNvPr>
          <p:cNvSpPr/>
          <p:nvPr/>
        </p:nvSpPr>
        <p:spPr>
          <a:xfrm>
            <a:off x="789072" y="2045961"/>
            <a:ext cx="3383280" cy="164592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137CE4-142A-C230-8DB8-43B6D99D1559}"/>
              </a:ext>
            </a:extLst>
          </p:cNvPr>
          <p:cNvSpPr txBox="1"/>
          <p:nvPr/>
        </p:nvSpPr>
        <p:spPr>
          <a:xfrm>
            <a:off x="971951" y="2192265"/>
            <a:ext cx="3063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OOP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D132C9-F090-308B-BD70-CFA1981D30F7}"/>
              </a:ext>
            </a:extLst>
          </p:cNvPr>
          <p:cNvSpPr txBox="1"/>
          <p:nvPr/>
        </p:nvSpPr>
        <p:spPr>
          <a:xfrm>
            <a:off x="971951" y="2612889"/>
            <a:ext cx="306324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latin typeface="Aptos"/>
              </a:rPr>
              <a:t>Classes &amp; Objects
Encapsulation
Constructor
Member Functions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5F903BCF-7321-2470-5197-A797ECEFD440}"/>
              </a:ext>
            </a:extLst>
          </p:cNvPr>
          <p:cNvSpPr/>
          <p:nvPr/>
        </p:nvSpPr>
        <p:spPr>
          <a:xfrm>
            <a:off x="4583832" y="2045961"/>
            <a:ext cx="3383280" cy="164592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70F8DF-5BAF-46CD-9233-E074273567DD}"/>
              </a:ext>
            </a:extLst>
          </p:cNvPr>
          <p:cNvSpPr txBox="1"/>
          <p:nvPr/>
        </p:nvSpPr>
        <p:spPr>
          <a:xfrm>
            <a:off x="4766712" y="2192265"/>
            <a:ext cx="3063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DATA STRUCTURES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A17B8D-B2BD-0420-9E92-32035BDBF88C}"/>
              </a:ext>
            </a:extLst>
          </p:cNvPr>
          <p:cNvSpPr txBox="1"/>
          <p:nvPr/>
        </p:nvSpPr>
        <p:spPr>
          <a:xfrm>
            <a:off x="4766712" y="2612889"/>
            <a:ext cx="30632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latin typeface="Aptos"/>
              </a:rPr>
              <a:t>Arrays
vector&lt;Student&gt;</a:t>
            </a:r>
          </a:p>
        </p:txBody>
      </p:sp>
      <p:sp>
        <p:nvSpPr>
          <p:cNvPr id="23" name="Rounded Rectangle 13">
            <a:extLst>
              <a:ext uri="{FF2B5EF4-FFF2-40B4-BE49-F238E27FC236}">
                <a16:creationId xmlns:a16="http://schemas.microsoft.com/office/drawing/2014/main" id="{56C3C772-E455-BFD4-8974-C477E929474F}"/>
              </a:ext>
            </a:extLst>
          </p:cNvPr>
          <p:cNvSpPr/>
          <p:nvPr/>
        </p:nvSpPr>
        <p:spPr>
          <a:xfrm>
            <a:off x="8378592" y="2045961"/>
            <a:ext cx="3383280" cy="164592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3BA31F-152A-56B2-D86D-BDFAD4715B2A}"/>
              </a:ext>
            </a:extLst>
          </p:cNvPr>
          <p:cNvSpPr txBox="1"/>
          <p:nvPr/>
        </p:nvSpPr>
        <p:spPr>
          <a:xfrm>
            <a:off x="8561472" y="2192265"/>
            <a:ext cx="3063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PROGRAMMING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7EF6D2-6362-5216-AC4D-47C1999E97A5}"/>
              </a:ext>
            </a:extLst>
          </p:cNvPr>
          <p:cNvSpPr txBox="1"/>
          <p:nvPr/>
        </p:nvSpPr>
        <p:spPr>
          <a:xfrm>
            <a:off x="8561472" y="2612889"/>
            <a:ext cx="30632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latin typeface="Aptos"/>
              </a:rPr>
              <a:t>Strings
Loops
Conditions
switch-case
Functions</a:t>
            </a:r>
          </a:p>
        </p:txBody>
      </p:sp>
      <p:sp>
        <p:nvSpPr>
          <p:cNvPr id="31" name="Rounded Rectangle 17">
            <a:extLst>
              <a:ext uri="{FF2B5EF4-FFF2-40B4-BE49-F238E27FC236}">
                <a16:creationId xmlns:a16="http://schemas.microsoft.com/office/drawing/2014/main" id="{ED10A620-729C-18C8-A165-637316D01BC3}"/>
              </a:ext>
            </a:extLst>
          </p:cNvPr>
          <p:cNvSpPr/>
          <p:nvPr/>
        </p:nvSpPr>
        <p:spPr>
          <a:xfrm>
            <a:off x="789072" y="4149080"/>
            <a:ext cx="3383280" cy="164592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24B14E-E65E-389E-4BE6-8C6DBAD1DEEF}"/>
              </a:ext>
            </a:extLst>
          </p:cNvPr>
          <p:cNvSpPr txBox="1"/>
          <p:nvPr/>
        </p:nvSpPr>
        <p:spPr>
          <a:xfrm>
            <a:off x="971951" y="4295385"/>
            <a:ext cx="3063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STL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24DCD8-F4C4-8FD6-7EFB-487F4DFFFF7E}"/>
              </a:ext>
            </a:extLst>
          </p:cNvPr>
          <p:cNvSpPr txBox="1"/>
          <p:nvPr/>
        </p:nvSpPr>
        <p:spPr>
          <a:xfrm>
            <a:off x="971951" y="4716009"/>
            <a:ext cx="306324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latin typeface="Aptos"/>
              </a:rPr>
              <a:t>vector
sort()
Algorithms</a:t>
            </a: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F65F401A-8C4E-2E8E-41FD-CCC52B20623F}"/>
              </a:ext>
            </a:extLst>
          </p:cNvPr>
          <p:cNvSpPr/>
          <p:nvPr/>
        </p:nvSpPr>
        <p:spPr>
          <a:xfrm>
            <a:off x="4583832" y="4149080"/>
            <a:ext cx="3383280" cy="164592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88803C-F4C8-FC92-319A-8996E0B75825}"/>
              </a:ext>
            </a:extLst>
          </p:cNvPr>
          <p:cNvSpPr txBox="1"/>
          <p:nvPr/>
        </p:nvSpPr>
        <p:spPr>
          <a:xfrm>
            <a:off x="4766712" y="4295385"/>
            <a:ext cx="3063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FILE HANDLING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1574D5-9F83-6C18-38DC-74C594C6BC7C}"/>
              </a:ext>
            </a:extLst>
          </p:cNvPr>
          <p:cNvSpPr txBox="1"/>
          <p:nvPr/>
        </p:nvSpPr>
        <p:spPr>
          <a:xfrm>
            <a:off x="4766712" y="4716009"/>
            <a:ext cx="306324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latin typeface="Aptos"/>
              </a:rPr>
              <a:t>ifstream
ofstream
File Reading / Writing</a:t>
            </a:r>
          </a:p>
        </p:txBody>
      </p:sp>
    </p:spTree>
    <p:extLst>
      <p:ext uri="{BB962C8B-B14F-4D97-AF65-F5344CB8AC3E}">
        <p14:creationId xmlns:p14="http://schemas.microsoft.com/office/powerpoint/2010/main" val="1695735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00CE43-2AA8-6798-3E38-5E0530105BDB}"/>
              </a:ext>
            </a:extLst>
          </p:cNvPr>
          <p:cNvSpPr txBox="1"/>
          <p:nvPr/>
        </p:nvSpPr>
        <p:spPr>
          <a:xfrm>
            <a:off x="638248" y="548680"/>
            <a:ext cx="9875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latin typeface="Berlin Sans FB Demi" panose="020E0802020502020306" pitchFamily="34" charset="0"/>
              </a:rPr>
              <a:t>Key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465B6-3468-63CA-24CC-613811147DE1}"/>
              </a:ext>
            </a:extLst>
          </p:cNvPr>
          <p:cNvSpPr txBox="1"/>
          <p:nvPr/>
        </p:nvSpPr>
        <p:spPr>
          <a:xfrm>
            <a:off x="528521" y="1604785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Important implementation blocks from the project.</a:t>
            </a: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3185CC7E-9C97-BBA6-CA52-A2B5758F600A}"/>
              </a:ext>
            </a:extLst>
          </p:cNvPr>
          <p:cNvSpPr/>
          <p:nvPr/>
        </p:nvSpPr>
        <p:spPr>
          <a:xfrm>
            <a:off x="546809" y="2427745"/>
            <a:ext cx="5212080" cy="196596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0E1EF0-7ED1-4B2C-3397-B2CDE8926CE4}"/>
              </a:ext>
            </a:extLst>
          </p:cNvPr>
          <p:cNvSpPr txBox="1"/>
          <p:nvPr/>
        </p:nvSpPr>
        <p:spPr>
          <a:xfrm>
            <a:off x="729689" y="2996952"/>
            <a:ext cx="48463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Aptos"/>
              </a:rPr>
              <a:t>Student </a:t>
            </a:r>
            <a:r>
              <a:rPr sz="1400" b="0" dirty="0" err="1">
                <a:latin typeface="Aptos"/>
              </a:rPr>
              <a:t>student</a:t>
            </a:r>
            <a:r>
              <a:rPr sz="1400" b="0" dirty="0">
                <a:latin typeface="Aptos"/>
              </a:rPr>
              <a:t>;
</a:t>
            </a:r>
            <a:r>
              <a:rPr sz="1400" b="0" dirty="0" err="1">
                <a:latin typeface="Aptos"/>
              </a:rPr>
              <a:t>student.addStudent</a:t>
            </a:r>
            <a:r>
              <a:rPr sz="1400" b="0" dirty="0">
                <a:latin typeface="Aptos"/>
              </a:rPr>
              <a:t>();
</a:t>
            </a:r>
            <a:r>
              <a:rPr sz="1400" b="0" dirty="0" err="1">
                <a:latin typeface="Aptos"/>
              </a:rPr>
              <a:t>student.enterMarks</a:t>
            </a:r>
            <a:r>
              <a:rPr sz="1400" b="0" dirty="0">
                <a:latin typeface="Aptos"/>
              </a:rPr>
              <a:t>();
</a:t>
            </a:r>
            <a:r>
              <a:rPr sz="1400" b="0" dirty="0" err="1">
                <a:latin typeface="Aptos"/>
              </a:rPr>
              <a:t>student.calculateResult</a:t>
            </a:r>
            <a:r>
              <a:rPr sz="1400" b="0" dirty="0">
                <a:latin typeface="Aptos"/>
              </a:rPr>
              <a:t>();
</a:t>
            </a:r>
            <a:r>
              <a:rPr sz="1400" b="0" dirty="0" err="1">
                <a:latin typeface="Aptos"/>
              </a:rPr>
              <a:t>students.push_back</a:t>
            </a:r>
            <a:r>
              <a:rPr sz="1400" b="0" dirty="0">
                <a:latin typeface="Aptos"/>
              </a:rPr>
              <a:t>(student);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42AD1C-0A58-3F9D-42CB-7B5492B6714B}"/>
              </a:ext>
            </a:extLst>
          </p:cNvPr>
          <p:cNvSpPr txBox="1"/>
          <p:nvPr/>
        </p:nvSpPr>
        <p:spPr>
          <a:xfrm>
            <a:off x="729689" y="4622305"/>
            <a:ext cx="4846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Creates a student object, accepts details and marks, calculates the result and stores it.</a:t>
            </a:r>
          </a:p>
        </p:txBody>
      </p:sp>
      <p:sp>
        <p:nvSpPr>
          <p:cNvPr id="17" name="Rounded Rectangle 10">
            <a:extLst>
              <a:ext uri="{FF2B5EF4-FFF2-40B4-BE49-F238E27FC236}">
                <a16:creationId xmlns:a16="http://schemas.microsoft.com/office/drawing/2014/main" id="{97E9696C-DEDD-2802-2BE5-450D4B549DEA}"/>
              </a:ext>
            </a:extLst>
          </p:cNvPr>
          <p:cNvSpPr/>
          <p:nvPr/>
        </p:nvSpPr>
        <p:spPr>
          <a:xfrm>
            <a:off x="6124649" y="2427745"/>
            <a:ext cx="5212080" cy="196596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D69A34-3AB4-5E94-0107-E9535EEBEABF}"/>
              </a:ext>
            </a:extLst>
          </p:cNvPr>
          <p:cNvSpPr txBox="1"/>
          <p:nvPr/>
        </p:nvSpPr>
        <p:spPr>
          <a:xfrm>
            <a:off x="6307529" y="2996952"/>
            <a:ext cx="48463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Aptos"/>
              </a:rPr>
              <a:t>total = 0;
for (int </a:t>
            </a:r>
            <a:r>
              <a:rPr sz="1400" b="0" dirty="0" err="1">
                <a:latin typeface="Aptos"/>
              </a:rPr>
              <a:t>i</a:t>
            </a:r>
            <a:r>
              <a:rPr sz="1400" b="0" dirty="0">
                <a:latin typeface="Aptos"/>
              </a:rPr>
              <a:t> = 0; </a:t>
            </a:r>
            <a:r>
              <a:rPr sz="1400" b="0" dirty="0" err="1">
                <a:latin typeface="Aptos"/>
              </a:rPr>
              <a:t>i</a:t>
            </a:r>
            <a:r>
              <a:rPr sz="1400" b="0" dirty="0">
                <a:latin typeface="Aptos"/>
              </a:rPr>
              <a:t> &lt; 5; </a:t>
            </a:r>
            <a:r>
              <a:rPr sz="1400" b="0" dirty="0" err="1">
                <a:latin typeface="Aptos"/>
              </a:rPr>
              <a:t>i</a:t>
            </a:r>
            <a:r>
              <a:rPr sz="1400" b="0" dirty="0">
                <a:latin typeface="Aptos"/>
              </a:rPr>
              <a:t>++)
    total += marks[</a:t>
            </a:r>
            <a:r>
              <a:rPr sz="1400" b="0" dirty="0" err="1">
                <a:latin typeface="Aptos"/>
              </a:rPr>
              <a:t>i</a:t>
            </a:r>
            <a:r>
              <a:rPr sz="1400" b="0" dirty="0">
                <a:latin typeface="Aptos"/>
              </a:rPr>
              <a:t>];
percentage = total / 5.0;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C2359E-C305-05B3-344D-C2D3007437B4}"/>
              </a:ext>
            </a:extLst>
          </p:cNvPr>
          <p:cNvSpPr txBox="1"/>
          <p:nvPr/>
        </p:nvSpPr>
        <p:spPr>
          <a:xfrm>
            <a:off x="6307529" y="4622305"/>
            <a:ext cx="4846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The system calculates the total and percentage from five subject marks.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2848E-6BC6-D515-E821-4CBFEDED159A}"/>
              </a:ext>
            </a:extLst>
          </p:cNvPr>
          <p:cNvSpPr txBox="1"/>
          <p:nvPr/>
        </p:nvSpPr>
        <p:spPr>
          <a:xfrm>
            <a:off x="528521" y="2669811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latin typeface="Aptos"/>
              </a:rPr>
              <a:t>ADD STUDENT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00A9DC-CD10-B3C4-AA20-225B616B6547}"/>
              </a:ext>
            </a:extLst>
          </p:cNvPr>
          <p:cNvSpPr txBox="1"/>
          <p:nvPr/>
        </p:nvSpPr>
        <p:spPr>
          <a:xfrm>
            <a:off x="6240016" y="2669810"/>
            <a:ext cx="2103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latin typeface="Aptos"/>
              </a:rPr>
              <a:t>RESULT CALCULATION</a:t>
            </a:r>
          </a:p>
        </p:txBody>
      </p:sp>
    </p:spTree>
    <p:extLst>
      <p:ext uri="{BB962C8B-B14F-4D97-AF65-F5344CB8AC3E}">
        <p14:creationId xmlns:p14="http://schemas.microsoft.com/office/powerpoint/2010/main" val="340197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4C7DC0-D6A4-ACFE-F958-20EEA84B0BA9}"/>
              </a:ext>
            </a:extLst>
          </p:cNvPr>
          <p:cNvSpPr txBox="1"/>
          <p:nvPr/>
        </p:nvSpPr>
        <p:spPr>
          <a:xfrm>
            <a:off x="4608981" y="425041"/>
            <a:ext cx="9875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latin typeface="Berlin Sans FB Demi" panose="020E0802020502020306" pitchFamily="34" charset="0"/>
              </a:rPr>
              <a:t>Result Processing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0B7A6-FF2D-FA07-2BF9-A609CF91E35A}"/>
              </a:ext>
            </a:extLst>
          </p:cNvPr>
          <p:cNvSpPr txBox="1"/>
          <p:nvPr/>
        </p:nvSpPr>
        <p:spPr>
          <a:xfrm>
            <a:off x="651960" y="1318984"/>
            <a:ext cx="10515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latin typeface="Aptos"/>
              </a:rPr>
              <a:t>Automatic evaluation of total, percentage, grade and Pass/Fail.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80A0F155-6D82-DF78-2DF6-2C3420E2A1BA}"/>
              </a:ext>
            </a:extLst>
          </p:cNvPr>
          <p:cNvSpPr/>
          <p:nvPr/>
        </p:nvSpPr>
        <p:spPr>
          <a:xfrm>
            <a:off x="670248" y="1821904"/>
            <a:ext cx="3429000" cy="132588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C953AF-F847-EC43-5EF0-EAFECF89FB70}"/>
              </a:ext>
            </a:extLst>
          </p:cNvPr>
          <p:cNvSpPr txBox="1"/>
          <p:nvPr/>
        </p:nvSpPr>
        <p:spPr>
          <a:xfrm>
            <a:off x="853127" y="1968208"/>
            <a:ext cx="3108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TOTAL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FF6DDE-CA5A-9967-D540-362B5E8DE402}"/>
              </a:ext>
            </a:extLst>
          </p:cNvPr>
          <p:cNvSpPr txBox="1"/>
          <p:nvPr/>
        </p:nvSpPr>
        <p:spPr>
          <a:xfrm>
            <a:off x="853127" y="2388832"/>
            <a:ext cx="3108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Sum of 5 subject marks</a:t>
            </a: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8C771FBC-1166-A6F6-2EC0-190373886483}"/>
              </a:ext>
            </a:extLst>
          </p:cNvPr>
          <p:cNvSpPr/>
          <p:nvPr/>
        </p:nvSpPr>
        <p:spPr>
          <a:xfrm>
            <a:off x="4419288" y="1821904"/>
            <a:ext cx="3429000" cy="132588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1BAA24-84E7-9A23-2BB4-66826232BF83}"/>
              </a:ext>
            </a:extLst>
          </p:cNvPr>
          <p:cNvSpPr txBox="1"/>
          <p:nvPr/>
        </p:nvSpPr>
        <p:spPr>
          <a:xfrm>
            <a:off x="4602168" y="1968208"/>
            <a:ext cx="3108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PERCENTAGE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E65ADB-378D-03C8-38F8-198CA44311ED}"/>
              </a:ext>
            </a:extLst>
          </p:cNvPr>
          <p:cNvSpPr txBox="1"/>
          <p:nvPr/>
        </p:nvSpPr>
        <p:spPr>
          <a:xfrm>
            <a:off x="4602168" y="2388832"/>
            <a:ext cx="3108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Total ÷ 5</a:t>
            </a:r>
          </a:p>
        </p:txBody>
      </p:sp>
      <p:sp>
        <p:nvSpPr>
          <p:cNvPr id="19" name="Rounded Rectangle 13">
            <a:extLst>
              <a:ext uri="{FF2B5EF4-FFF2-40B4-BE49-F238E27FC236}">
                <a16:creationId xmlns:a16="http://schemas.microsoft.com/office/drawing/2014/main" id="{E77C5C89-0ADE-174A-A040-F02C2C4D20A7}"/>
              </a:ext>
            </a:extLst>
          </p:cNvPr>
          <p:cNvSpPr/>
          <p:nvPr/>
        </p:nvSpPr>
        <p:spPr>
          <a:xfrm>
            <a:off x="8168328" y="1821904"/>
            <a:ext cx="3429000" cy="132588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978E60-6A7B-1135-8BBE-8C8BC55EF08B}"/>
              </a:ext>
            </a:extLst>
          </p:cNvPr>
          <p:cNvSpPr txBox="1"/>
          <p:nvPr/>
        </p:nvSpPr>
        <p:spPr>
          <a:xfrm>
            <a:off x="8351208" y="1968208"/>
            <a:ext cx="3108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PASS / FAIL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7C2E4C-903B-9190-030E-DDFA4C5802DC}"/>
              </a:ext>
            </a:extLst>
          </p:cNvPr>
          <p:cNvSpPr txBox="1"/>
          <p:nvPr/>
        </p:nvSpPr>
        <p:spPr>
          <a:xfrm>
            <a:off x="8351208" y="2388832"/>
            <a:ext cx="3108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Any subject &lt; 40 → FAIL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13408C-F23B-09BA-FB26-5D96123A78CD}"/>
              </a:ext>
            </a:extLst>
          </p:cNvPr>
          <p:cNvSpPr txBox="1"/>
          <p:nvPr/>
        </p:nvSpPr>
        <p:spPr>
          <a:xfrm>
            <a:off x="1127448" y="355926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latin typeface="Aptos"/>
              </a:rPr>
              <a:t>PERCENTAGE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443704-F017-F36A-72FD-AEEAF365F6CA}"/>
              </a:ext>
            </a:extLst>
          </p:cNvPr>
          <p:cNvSpPr txBox="1"/>
          <p:nvPr/>
        </p:nvSpPr>
        <p:spPr>
          <a:xfrm>
            <a:off x="6430968" y="355926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latin typeface="Aptos"/>
              </a:rPr>
              <a:t>GRADE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6A96B9-B489-75A2-9609-ABDBEC2ADB7F}"/>
              </a:ext>
            </a:extLst>
          </p:cNvPr>
          <p:cNvSpPr txBox="1"/>
          <p:nvPr/>
        </p:nvSpPr>
        <p:spPr>
          <a:xfrm>
            <a:off x="1127448" y="397074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latin typeface="Aptos"/>
              </a:rPr>
              <a:t>90 and above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6D5C64-303F-0D34-9E05-D008578F2E24}"/>
              </a:ext>
            </a:extLst>
          </p:cNvPr>
          <p:cNvSpPr txBox="1"/>
          <p:nvPr/>
        </p:nvSpPr>
        <p:spPr>
          <a:xfrm>
            <a:off x="6430968" y="397074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latin typeface="Aptos"/>
              </a:rPr>
              <a:t>A+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5A835E-9CA2-8E10-874A-579F512463E8}"/>
              </a:ext>
            </a:extLst>
          </p:cNvPr>
          <p:cNvSpPr txBox="1"/>
          <p:nvPr/>
        </p:nvSpPr>
        <p:spPr>
          <a:xfrm>
            <a:off x="1127448" y="433650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latin typeface="Aptos"/>
              </a:rPr>
              <a:t>80 – 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90DA83-84A9-4DCB-0CEB-CFDBA67B3DB9}"/>
              </a:ext>
            </a:extLst>
          </p:cNvPr>
          <p:cNvSpPr txBox="1"/>
          <p:nvPr/>
        </p:nvSpPr>
        <p:spPr>
          <a:xfrm>
            <a:off x="6430968" y="433650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latin typeface="Aptos"/>
              </a:rPr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BEAB21-8A47-A810-D58A-FB43B60B6D1A}"/>
              </a:ext>
            </a:extLst>
          </p:cNvPr>
          <p:cNvSpPr txBox="1"/>
          <p:nvPr/>
        </p:nvSpPr>
        <p:spPr>
          <a:xfrm>
            <a:off x="1127448" y="470226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latin typeface="Aptos"/>
              </a:rPr>
              <a:t>70 – 79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8C9A40-BC17-7C65-10F2-932102B56D70}"/>
              </a:ext>
            </a:extLst>
          </p:cNvPr>
          <p:cNvSpPr txBox="1"/>
          <p:nvPr/>
        </p:nvSpPr>
        <p:spPr>
          <a:xfrm>
            <a:off x="6430968" y="470226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latin typeface="Aptos"/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655EF7-770D-78C6-B90B-DC14E6173DC8}"/>
              </a:ext>
            </a:extLst>
          </p:cNvPr>
          <p:cNvSpPr txBox="1"/>
          <p:nvPr/>
        </p:nvSpPr>
        <p:spPr>
          <a:xfrm>
            <a:off x="1127448" y="506802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latin typeface="Aptos"/>
              </a:rPr>
              <a:t>60 – 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0E6D6C-4AF2-076F-2A3D-17F4F6A99F03}"/>
              </a:ext>
            </a:extLst>
          </p:cNvPr>
          <p:cNvSpPr txBox="1"/>
          <p:nvPr/>
        </p:nvSpPr>
        <p:spPr>
          <a:xfrm>
            <a:off x="6430968" y="506802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latin typeface="Aptos"/>
              </a:rPr>
              <a:t>C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8622DF-A299-1238-1CE6-30C14C4AB7ED}"/>
              </a:ext>
            </a:extLst>
          </p:cNvPr>
          <p:cNvSpPr txBox="1"/>
          <p:nvPr/>
        </p:nvSpPr>
        <p:spPr>
          <a:xfrm>
            <a:off x="1127448" y="543378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latin typeface="Aptos"/>
              </a:rPr>
              <a:t>50 – 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52DE3C-B950-2433-CD2D-AD77800B1FD1}"/>
              </a:ext>
            </a:extLst>
          </p:cNvPr>
          <p:cNvSpPr txBox="1"/>
          <p:nvPr/>
        </p:nvSpPr>
        <p:spPr>
          <a:xfrm>
            <a:off x="6430968" y="543378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latin typeface="Aptos"/>
              </a:rPr>
              <a:t>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A10EC1-FF5D-B1BA-E767-AF211AE3B5B5}"/>
              </a:ext>
            </a:extLst>
          </p:cNvPr>
          <p:cNvSpPr txBox="1"/>
          <p:nvPr/>
        </p:nvSpPr>
        <p:spPr>
          <a:xfrm>
            <a:off x="1127448" y="579954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latin typeface="Aptos"/>
              </a:rPr>
              <a:t>Below 50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0E9788-4936-C300-1B77-45F89405671D}"/>
              </a:ext>
            </a:extLst>
          </p:cNvPr>
          <p:cNvSpPr txBox="1"/>
          <p:nvPr/>
        </p:nvSpPr>
        <p:spPr>
          <a:xfrm>
            <a:off x="6430968" y="579954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latin typeface="Aptos"/>
              </a:rPr>
              <a:t>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35DE75-1F55-BCC9-C053-539F62DCFA73}"/>
              </a:ext>
            </a:extLst>
          </p:cNvPr>
          <p:cNvSpPr txBox="1"/>
          <p:nvPr/>
        </p:nvSpPr>
        <p:spPr>
          <a:xfrm>
            <a:off x="1127448" y="616530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latin typeface="Aptos"/>
              </a:rPr>
              <a:t>Any subject &lt; 40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7FE7A9-DC6D-9B2A-917C-81AF3289405D}"/>
              </a:ext>
            </a:extLst>
          </p:cNvPr>
          <p:cNvSpPr txBox="1"/>
          <p:nvPr/>
        </p:nvSpPr>
        <p:spPr>
          <a:xfrm>
            <a:off x="6430968" y="616530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latin typeface="Aptos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954273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04A384-9D66-DA5F-F675-AE6B8BC7A9FC}"/>
              </a:ext>
            </a:extLst>
          </p:cNvPr>
          <p:cNvSpPr txBox="1"/>
          <p:nvPr/>
        </p:nvSpPr>
        <p:spPr>
          <a:xfrm>
            <a:off x="623392" y="525859"/>
            <a:ext cx="9875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latin typeface="Berlin Sans FB Demi" panose="020E0802020502020306" pitchFamily="34" charset="0"/>
              </a:rPr>
              <a:t>Search &amp; Sorting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567CF7-726C-715F-E5C2-CEED1A7EAF75}"/>
              </a:ext>
            </a:extLst>
          </p:cNvPr>
          <p:cNvSpPr txBox="1"/>
          <p:nvPr/>
        </p:nvSpPr>
        <p:spPr>
          <a:xfrm>
            <a:off x="605104" y="1562472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Efficient retrieval and organization of student records.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F487A9C9-779E-F6C1-5D65-9CA4E3F7E149}"/>
              </a:ext>
            </a:extLst>
          </p:cNvPr>
          <p:cNvSpPr/>
          <p:nvPr/>
        </p:nvSpPr>
        <p:spPr>
          <a:xfrm>
            <a:off x="623392" y="2065392"/>
            <a:ext cx="52120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BD5C0-662A-EB0E-1AC5-BD4FB8CE4AD4}"/>
              </a:ext>
            </a:extLst>
          </p:cNvPr>
          <p:cNvSpPr txBox="1"/>
          <p:nvPr/>
        </p:nvSpPr>
        <p:spPr>
          <a:xfrm>
            <a:off x="806271" y="2211696"/>
            <a:ext cx="4892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SEARCH BY STUDENT 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553D23-ABCC-04DF-761C-FB918B71D833}"/>
              </a:ext>
            </a:extLst>
          </p:cNvPr>
          <p:cNvSpPr txBox="1"/>
          <p:nvPr/>
        </p:nvSpPr>
        <p:spPr>
          <a:xfrm>
            <a:off x="806271" y="2632320"/>
            <a:ext cx="4892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searchByID(students);
Finds and displays a matching student record.</a:t>
            </a: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03B443DC-46F4-3074-5DBC-2C5A40B0CCB7}"/>
              </a:ext>
            </a:extLst>
          </p:cNvPr>
          <p:cNvSpPr/>
          <p:nvPr/>
        </p:nvSpPr>
        <p:spPr>
          <a:xfrm>
            <a:off x="6292672" y="2065392"/>
            <a:ext cx="52120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9E73B2-13AA-1711-0657-440AFEB303F1}"/>
              </a:ext>
            </a:extLst>
          </p:cNvPr>
          <p:cNvSpPr txBox="1"/>
          <p:nvPr/>
        </p:nvSpPr>
        <p:spPr>
          <a:xfrm>
            <a:off x="6475552" y="2211696"/>
            <a:ext cx="4892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SEARCH BY 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055D13-5D49-2BA5-D1A1-A2C9106458D9}"/>
              </a:ext>
            </a:extLst>
          </p:cNvPr>
          <p:cNvSpPr txBox="1"/>
          <p:nvPr/>
        </p:nvSpPr>
        <p:spPr>
          <a:xfrm>
            <a:off x="6475552" y="2632320"/>
            <a:ext cx="4892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searchByName(students);
Finds matching records by name.</a:t>
            </a:r>
          </a:p>
        </p:txBody>
      </p:sp>
      <p:sp>
        <p:nvSpPr>
          <p:cNvPr id="19" name="Rounded Rectangle 13">
            <a:extLst>
              <a:ext uri="{FF2B5EF4-FFF2-40B4-BE49-F238E27FC236}">
                <a16:creationId xmlns:a16="http://schemas.microsoft.com/office/drawing/2014/main" id="{571B2032-78EE-3D7E-6938-9B5E99BAB020}"/>
              </a:ext>
            </a:extLst>
          </p:cNvPr>
          <p:cNvSpPr/>
          <p:nvPr/>
        </p:nvSpPr>
        <p:spPr>
          <a:xfrm>
            <a:off x="623392" y="4077072"/>
            <a:ext cx="52120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C2CDC9-66E3-0299-6DB3-E9F1C70E6BE7}"/>
              </a:ext>
            </a:extLst>
          </p:cNvPr>
          <p:cNvSpPr txBox="1"/>
          <p:nvPr/>
        </p:nvSpPr>
        <p:spPr>
          <a:xfrm>
            <a:off x="806271" y="4223376"/>
            <a:ext cx="4892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SORT BY ID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B69740-6AF0-168B-827F-16308A31149B}"/>
              </a:ext>
            </a:extLst>
          </p:cNvPr>
          <p:cNvSpPr txBox="1"/>
          <p:nvPr/>
        </p:nvSpPr>
        <p:spPr>
          <a:xfrm>
            <a:off x="806271" y="4644000"/>
            <a:ext cx="4892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sortByID(students);
Arranges records according to Student ID.</a:t>
            </a:r>
          </a:p>
        </p:txBody>
      </p:sp>
      <p:sp>
        <p:nvSpPr>
          <p:cNvPr id="25" name="Rounded Rectangle 17">
            <a:extLst>
              <a:ext uri="{FF2B5EF4-FFF2-40B4-BE49-F238E27FC236}">
                <a16:creationId xmlns:a16="http://schemas.microsoft.com/office/drawing/2014/main" id="{038511DD-7210-9DF8-B432-B2B445942661}"/>
              </a:ext>
            </a:extLst>
          </p:cNvPr>
          <p:cNvSpPr/>
          <p:nvPr/>
        </p:nvSpPr>
        <p:spPr>
          <a:xfrm>
            <a:off x="6292672" y="4077072"/>
            <a:ext cx="5212080" cy="16002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95F054-F05D-8DC0-9FBF-AAEFAA69E746}"/>
              </a:ext>
            </a:extLst>
          </p:cNvPr>
          <p:cNvSpPr txBox="1"/>
          <p:nvPr/>
        </p:nvSpPr>
        <p:spPr>
          <a:xfrm>
            <a:off x="6475552" y="4223376"/>
            <a:ext cx="4892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SORT BY NAME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E01086-3EE2-45D0-B3F5-10CEE3C3E7C0}"/>
              </a:ext>
            </a:extLst>
          </p:cNvPr>
          <p:cNvSpPr txBox="1"/>
          <p:nvPr/>
        </p:nvSpPr>
        <p:spPr>
          <a:xfrm>
            <a:off x="6475552" y="4644000"/>
            <a:ext cx="4892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sortByName(students);
Arranges records alphabetically by name.</a:t>
            </a:r>
          </a:p>
        </p:txBody>
      </p:sp>
    </p:spTree>
    <p:extLst>
      <p:ext uri="{BB962C8B-B14F-4D97-AF65-F5344CB8AC3E}">
        <p14:creationId xmlns:p14="http://schemas.microsoft.com/office/powerpoint/2010/main" val="3797144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5F3EDA-CCC4-5581-402C-6F65E6830DD5}"/>
              </a:ext>
            </a:extLst>
          </p:cNvPr>
          <p:cNvSpPr txBox="1"/>
          <p:nvPr/>
        </p:nvSpPr>
        <p:spPr>
          <a:xfrm>
            <a:off x="3935760" y="378714"/>
            <a:ext cx="62145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dirty="0">
                <a:latin typeface="Berlin Sans FB Demi" panose="020E0802020502020306" pitchFamily="34" charset="0"/>
              </a:rPr>
              <a:t>Final Output &amp; Demonstration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91270A-80C5-FEFA-52AF-83AF655001B1}"/>
              </a:ext>
            </a:extLst>
          </p:cNvPr>
          <p:cNvSpPr txBox="1"/>
          <p:nvPr/>
        </p:nvSpPr>
        <p:spPr>
          <a:xfrm>
            <a:off x="-456728" y="1268760"/>
            <a:ext cx="621453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50" b="1" dirty="0">
                <a:latin typeface="Aptos"/>
              </a:rPr>
              <a:t>MAIN MENU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90F72E-E08F-3125-A180-FB1438E7E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763885"/>
            <a:ext cx="4480948" cy="33302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4B1431-69C3-1346-3315-5D149E00BC21}"/>
              </a:ext>
            </a:extLst>
          </p:cNvPr>
          <p:cNvSpPr txBox="1"/>
          <p:nvPr/>
        </p:nvSpPr>
        <p:spPr>
          <a:xfrm>
            <a:off x="7608168" y="1126413"/>
            <a:ext cx="301752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dirty="0">
                <a:latin typeface="Aptos"/>
              </a:rPr>
              <a:t>ADD STUDENT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C14D95-2412-A035-3BA1-3B4FB28D3DCB}"/>
              </a:ext>
            </a:extLst>
          </p:cNvPr>
          <p:cNvSpPr txBox="1"/>
          <p:nvPr/>
        </p:nvSpPr>
        <p:spPr>
          <a:xfrm>
            <a:off x="8412480" y="26243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dirty="0">
                <a:solidFill>
                  <a:srgbClr val="F8FAFC"/>
                </a:solidFill>
                <a:latin typeface="Aptos"/>
              </a:rPr>
              <a:t>ENTER MARKS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0279CB-9CF5-E14E-CDB6-7426CAB4C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992" y="1729625"/>
            <a:ext cx="5082980" cy="423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50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D66588-B603-91D7-E110-5C9B4D47A8CE}"/>
              </a:ext>
            </a:extLst>
          </p:cNvPr>
          <p:cNvSpPr txBox="1"/>
          <p:nvPr/>
        </p:nvSpPr>
        <p:spPr>
          <a:xfrm>
            <a:off x="983432" y="1196752"/>
            <a:ext cx="301752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dirty="0">
                <a:latin typeface="Aptos"/>
              </a:rPr>
              <a:t>ENTER MARKS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B744A-064F-28C4-F8BC-BA895ADC1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2060848"/>
            <a:ext cx="4206605" cy="24538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D13890-F865-3F37-60EB-B1437670C5D4}"/>
              </a:ext>
            </a:extLst>
          </p:cNvPr>
          <p:cNvSpPr txBox="1"/>
          <p:nvPr/>
        </p:nvSpPr>
        <p:spPr>
          <a:xfrm>
            <a:off x="7104112" y="902270"/>
            <a:ext cx="301752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dirty="0">
                <a:latin typeface="Aptos"/>
              </a:rPr>
              <a:t>STUDENT RESULT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AC24A7-F525-4A96-1ED4-9EFA3C40A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96" y="1339098"/>
            <a:ext cx="3451546" cy="537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43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894A12-0626-5693-E381-088412BD3AAF}"/>
              </a:ext>
            </a:extLst>
          </p:cNvPr>
          <p:cNvSpPr txBox="1"/>
          <p:nvPr/>
        </p:nvSpPr>
        <p:spPr>
          <a:xfrm>
            <a:off x="853621" y="1196752"/>
            <a:ext cx="301752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dirty="0">
                <a:latin typeface="Aptos"/>
              </a:rPr>
              <a:t>SEARCH RECORD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A75F81-FE2E-6447-3E1C-343C4B428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753" y="1556792"/>
            <a:ext cx="2645257" cy="44440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5E6043-31A4-4926-9579-F6A28E4E7447}"/>
              </a:ext>
            </a:extLst>
          </p:cNvPr>
          <p:cNvSpPr txBox="1"/>
          <p:nvPr/>
        </p:nvSpPr>
        <p:spPr>
          <a:xfrm>
            <a:off x="6606874" y="1196752"/>
            <a:ext cx="30175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50" b="1" dirty="0">
                <a:latin typeface="Aptos"/>
              </a:rPr>
              <a:t>ALL STUDENT RECORDS</a:t>
            </a:r>
          </a:p>
          <a:p>
            <a:pPr algn="ctr"/>
            <a:endParaRPr sz="1250" b="1" dirty="0">
              <a:latin typeface="Apto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037FD2-D1B2-9C13-40D7-665F162AC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219" y="1556792"/>
            <a:ext cx="7581429" cy="444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17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EF3AE05A-4655-C227-1F86-ED57D72CED12}"/>
              </a:ext>
            </a:extLst>
          </p:cNvPr>
          <p:cNvSpPr txBox="1"/>
          <p:nvPr/>
        </p:nvSpPr>
        <p:spPr>
          <a:xfrm>
            <a:off x="551384" y="488993"/>
            <a:ext cx="9875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latin typeface="Berlin Sans FB Demi" panose="020E0802020502020306" pitchFamily="34" charset="0"/>
              </a:rPr>
              <a:t>Final Implementation Status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537955-DFBD-626F-7CB2-02ED9D9DA8D0}"/>
              </a:ext>
            </a:extLst>
          </p:cNvPr>
          <p:cNvSpPr txBox="1"/>
          <p:nvPr/>
        </p:nvSpPr>
        <p:spPr>
          <a:xfrm>
            <a:off x="578816" y="1055921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Aptos"/>
              </a:rPr>
              <a:t>Current project capabilities.</a:t>
            </a:r>
          </a:p>
        </p:txBody>
      </p:sp>
      <p:sp>
        <p:nvSpPr>
          <p:cNvPr id="50" name="Rounded Rectangle 5">
            <a:extLst>
              <a:ext uri="{FF2B5EF4-FFF2-40B4-BE49-F238E27FC236}">
                <a16:creationId xmlns:a16="http://schemas.microsoft.com/office/drawing/2014/main" id="{27E07979-3202-3656-8EF1-430DA9B47A3E}"/>
              </a:ext>
            </a:extLst>
          </p:cNvPr>
          <p:cNvSpPr/>
          <p:nvPr/>
        </p:nvSpPr>
        <p:spPr>
          <a:xfrm>
            <a:off x="597104" y="1513121"/>
            <a:ext cx="5166360" cy="1143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A6C732-8DE2-202E-0E4A-CE571E20BFA6}"/>
              </a:ext>
            </a:extLst>
          </p:cNvPr>
          <p:cNvSpPr txBox="1"/>
          <p:nvPr/>
        </p:nvSpPr>
        <p:spPr>
          <a:xfrm>
            <a:off x="779983" y="1659425"/>
            <a:ext cx="484632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STUDENT MANAGEMENT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CC18DA-E3AA-15EB-C7F6-9CB9BA53526E}"/>
              </a:ext>
            </a:extLst>
          </p:cNvPr>
          <p:cNvSpPr txBox="1"/>
          <p:nvPr/>
        </p:nvSpPr>
        <p:spPr>
          <a:xfrm>
            <a:off x="779983" y="2080049"/>
            <a:ext cx="484632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Student details can be added and updated.</a:t>
            </a:r>
          </a:p>
        </p:txBody>
      </p:sp>
      <p:sp>
        <p:nvSpPr>
          <p:cNvPr id="56" name="Rounded Rectangle 9">
            <a:extLst>
              <a:ext uri="{FF2B5EF4-FFF2-40B4-BE49-F238E27FC236}">
                <a16:creationId xmlns:a16="http://schemas.microsoft.com/office/drawing/2014/main" id="{188A2D72-FC0F-BC79-4034-7C4472B3B75F}"/>
              </a:ext>
            </a:extLst>
          </p:cNvPr>
          <p:cNvSpPr/>
          <p:nvPr/>
        </p:nvSpPr>
        <p:spPr>
          <a:xfrm>
            <a:off x="6220664" y="1513121"/>
            <a:ext cx="5166360" cy="1143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2C1CBA-184D-489E-61CB-EE483987FC7D}"/>
              </a:ext>
            </a:extLst>
          </p:cNvPr>
          <p:cNvSpPr txBox="1"/>
          <p:nvPr/>
        </p:nvSpPr>
        <p:spPr>
          <a:xfrm>
            <a:off x="6403544" y="1659425"/>
            <a:ext cx="484632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MARKS MANAGEMENT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3FEC00-F31C-C432-AB67-DA9B219A99D4}"/>
              </a:ext>
            </a:extLst>
          </p:cNvPr>
          <p:cNvSpPr txBox="1"/>
          <p:nvPr/>
        </p:nvSpPr>
        <p:spPr>
          <a:xfrm>
            <a:off x="6403544" y="2080049"/>
            <a:ext cx="484632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Five subject marks can be entered and validated.</a:t>
            </a:r>
          </a:p>
        </p:txBody>
      </p:sp>
      <p:sp>
        <p:nvSpPr>
          <p:cNvPr id="62" name="Rounded Rectangle 13">
            <a:extLst>
              <a:ext uri="{FF2B5EF4-FFF2-40B4-BE49-F238E27FC236}">
                <a16:creationId xmlns:a16="http://schemas.microsoft.com/office/drawing/2014/main" id="{4B91E09D-3818-29C8-4A6C-BA2B96EEF3F7}"/>
              </a:ext>
            </a:extLst>
          </p:cNvPr>
          <p:cNvSpPr/>
          <p:nvPr/>
        </p:nvSpPr>
        <p:spPr>
          <a:xfrm>
            <a:off x="597104" y="3021881"/>
            <a:ext cx="5166360" cy="1143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128E489-B729-C40A-BFA9-3F668A909CAF}"/>
              </a:ext>
            </a:extLst>
          </p:cNvPr>
          <p:cNvSpPr txBox="1"/>
          <p:nvPr/>
        </p:nvSpPr>
        <p:spPr>
          <a:xfrm>
            <a:off x="779983" y="3168185"/>
            <a:ext cx="484632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RESULT PROCESSING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0A082B7-8B97-867B-E095-4164E9FEE983}"/>
              </a:ext>
            </a:extLst>
          </p:cNvPr>
          <p:cNvSpPr txBox="1"/>
          <p:nvPr/>
        </p:nvSpPr>
        <p:spPr>
          <a:xfrm>
            <a:off x="779983" y="3588809"/>
            <a:ext cx="484632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Total, percentage, grade and Pass/Fail are calculated.</a:t>
            </a:r>
          </a:p>
        </p:txBody>
      </p:sp>
      <p:sp>
        <p:nvSpPr>
          <p:cNvPr id="68" name="Rounded Rectangle 17">
            <a:extLst>
              <a:ext uri="{FF2B5EF4-FFF2-40B4-BE49-F238E27FC236}">
                <a16:creationId xmlns:a16="http://schemas.microsoft.com/office/drawing/2014/main" id="{0C2D1395-B9E6-13A1-DF28-D401C95DB7B5}"/>
              </a:ext>
            </a:extLst>
          </p:cNvPr>
          <p:cNvSpPr/>
          <p:nvPr/>
        </p:nvSpPr>
        <p:spPr>
          <a:xfrm>
            <a:off x="6220664" y="3021881"/>
            <a:ext cx="5166360" cy="1143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E360827-E779-6449-83A9-F294AA3482AC}"/>
              </a:ext>
            </a:extLst>
          </p:cNvPr>
          <p:cNvSpPr txBox="1"/>
          <p:nvPr/>
        </p:nvSpPr>
        <p:spPr>
          <a:xfrm>
            <a:off x="6403544" y="3168185"/>
            <a:ext cx="484632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SEARCH &amp; SORT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A24F03C-28EF-D868-26C7-6B8516000253}"/>
              </a:ext>
            </a:extLst>
          </p:cNvPr>
          <p:cNvSpPr txBox="1"/>
          <p:nvPr/>
        </p:nvSpPr>
        <p:spPr>
          <a:xfrm>
            <a:off x="6403544" y="3588809"/>
            <a:ext cx="484632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Records can be searched and sorted by ID/name.</a:t>
            </a:r>
          </a:p>
        </p:txBody>
      </p:sp>
      <p:sp>
        <p:nvSpPr>
          <p:cNvPr id="74" name="Rounded Rectangle 21">
            <a:extLst>
              <a:ext uri="{FF2B5EF4-FFF2-40B4-BE49-F238E27FC236}">
                <a16:creationId xmlns:a16="http://schemas.microsoft.com/office/drawing/2014/main" id="{1265B101-F635-3CCB-CB19-2BEED3DB8FD3}"/>
              </a:ext>
            </a:extLst>
          </p:cNvPr>
          <p:cNvSpPr/>
          <p:nvPr/>
        </p:nvSpPr>
        <p:spPr>
          <a:xfrm>
            <a:off x="597104" y="4530641"/>
            <a:ext cx="5166360" cy="1143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824A47F-A10C-6F0E-0A05-A74710F7AC0B}"/>
              </a:ext>
            </a:extLst>
          </p:cNvPr>
          <p:cNvSpPr txBox="1"/>
          <p:nvPr/>
        </p:nvSpPr>
        <p:spPr>
          <a:xfrm>
            <a:off x="779983" y="4676945"/>
            <a:ext cx="484632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FILE MANAGEMENT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1F315A2-2BD0-5A66-3AF1-26613D47F8D2}"/>
              </a:ext>
            </a:extLst>
          </p:cNvPr>
          <p:cNvSpPr txBox="1"/>
          <p:nvPr/>
        </p:nvSpPr>
        <p:spPr>
          <a:xfrm>
            <a:off x="779983" y="5097569"/>
            <a:ext cx="484632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Records are saved and loaded using students.txt.</a:t>
            </a:r>
          </a:p>
        </p:txBody>
      </p:sp>
      <p:sp>
        <p:nvSpPr>
          <p:cNvPr id="80" name="Rounded Rectangle 25">
            <a:extLst>
              <a:ext uri="{FF2B5EF4-FFF2-40B4-BE49-F238E27FC236}">
                <a16:creationId xmlns:a16="http://schemas.microsoft.com/office/drawing/2014/main" id="{819F2E94-D9FD-140F-159E-730EC8096A45}"/>
              </a:ext>
            </a:extLst>
          </p:cNvPr>
          <p:cNvSpPr/>
          <p:nvPr/>
        </p:nvSpPr>
        <p:spPr>
          <a:xfrm>
            <a:off x="6220664" y="4530641"/>
            <a:ext cx="5166360" cy="1143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564EE31-422E-A423-F187-5C576FB131F4}"/>
              </a:ext>
            </a:extLst>
          </p:cNvPr>
          <p:cNvSpPr txBox="1"/>
          <p:nvPr/>
        </p:nvSpPr>
        <p:spPr>
          <a:xfrm>
            <a:off x="6403544" y="4676945"/>
            <a:ext cx="484632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ptos"/>
              </a:rPr>
              <a:t>C++ CONCEPTS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3B6A0C-778C-9C4F-B01D-AE1995D14A17}"/>
              </a:ext>
            </a:extLst>
          </p:cNvPr>
          <p:cNvSpPr txBox="1"/>
          <p:nvPr/>
        </p:nvSpPr>
        <p:spPr>
          <a:xfrm>
            <a:off x="6403544" y="5097569"/>
            <a:ext cx="484632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ptos"/>
              </a:rPr>
              <a:t>OOP, arrays, vectors, functions, STL and file handling.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367A540-3E72-CFC3-B0A7-29B8530F1219}"/>
              </a:ext>
            </a:extLst>
          </p:cNvPr>
          <p:cNvSpPr txBox="1"/>
          <p:nvPr/>
        </p:nvSpPr>
        <p:spPr>
          <a:xfrm>
            <a:off x="3111704" y="6039401"/>
            <a:ext cx="5852160" cy="36576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800" b="1">
                <a:latin typeface="Aptos"/>
              </a:rPr>
              <a:t>SUCCESSFULLY IMPLEMENTED</a:t>
            </a:r>
          </a:p>
        </p:txBody>
      </p:sp>
    </p:spTree>
    <p:extLst>
      <p:ext uri="{BB962C8B-B14F-4D97-AF65-F5344CB8AC3E}">
        <p14:creationId xmlns:p14="http://schemas.microsoft.com/office/powerpoint/2010/main" val="336332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595406" y="2857496"/>
            <a:ext cx="9215502" cy="1363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r>
              <a:rPr lang="en-US" sz="7200" b="1" spc="-50" dirty="0">
                <a:solidFill>
                  <a:schemeClr val="accent1">
                    <a:lumMod val="75000"/>
                  </a:schemeClr>
                </a:solidFill>
                <a:latin typeface="Berlin Sans FB Demi" panose="020E0802020502020306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8027</TotalTime>
  <Words>874</Words>
  <Application>Microsoft Office PowerPoint</Application>
  <PresentationFormat>Widescreen</PresentationFormat>
  <Paragraphs>163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Berlin Sans FB Demi</vt:lpstr>
      <vt:lpstr>Calibri</vt:lpstr>
      <vt:lpstr>Calibri Light</vt:lpstr>
      <vt:lpstr>Times New Roman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Kusula Balla</cp:lastModifiedBy>
  <cp:revision>845</cp:revision>
  <cp:lastPrinted>2023-06-09T04:58:36Z</cp:lastPrinted>
  <dcterms:created xsi:type="dcterms:W3CDTF">2019-12-14T03:50:52Z</dcterms:created>
  <dcterms:modified xsi:type="dcterms:W3CDTF">2026-10-07T17:41:06Z</dcterms:modified>
</cp:coreProperties>
</file>